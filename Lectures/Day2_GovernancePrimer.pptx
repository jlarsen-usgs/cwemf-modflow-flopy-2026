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2" r:id="rId4"/>
  </p:sldMasterIdLst>
  <p:notesMasterIdLst>
    <p:notesMasterId r:id="rId12"/>
  </p:notesMasterIdLst>
  <p:handoutMasterIdLst>
    <p:handoutMasterId r:id="rId13"/>
  </p:handoutMasterIdLst>
  <p:sldIdLst>
    <p:sldId id="403" r:id="rId5"/>
    <p:sldId id="412" r:id="rId6"/>
    <p:sldId id="402" r:id="rId7"/>
    <p:sldId id="414" r:id="rId8"/>
    <p:sldId id="411" r:id="rId9"/>
    <p:sldId id="413" r:id="rId10"/>
    <p:sldId id="1472" r:id="rId11"/>
  </p:sldIdLst>
  <p:sldSz cx="12192000" cy="6858000"/>
  <p:notesSz cx="7019925" cy="9305925"/>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sz="4000" kern="1200">
        <a:solidFill>
          <a:schemeClr val="tx1"/>
        </a:solidFill>
        <a:latin typeface="Arial" charset="0"/>
        <a:ea typeface="+mn-ea"/>
        <a:cs typeface="+mn-cs"/>
      </a:defRPr>
    </a:lvl1pPr>
    <a:lvl2pPr marL="457200" algn="l" rtl="0" eaLnBrk="0" fontAlgn="base" hangingPunct="0">
      <a:spcBef>
        <a:spcPct val="0"/>
      </a:spcBef>
      <a:spcAft>
        <a:spcPct val="0"/>
      </a:spcAft>
      <a:defRPr sz="4000" kern="1200">
        <a:solidFill>
          <a:schemeClr val="tx1"/>
        </a:solidFill>
        <a:latin typeface="Arial" charset="0"/>
        <a:ea typeface="+mn-ea"/>
        <a:cs typeface="+mn-cs"/>
      </a:defRPr>
    </a:lvl2pPr>
    <a:lvl3pPr marL="914400" algn="l" rtl="0" eaLnBrk="0" fontAlgn="base" hangingPunct="0">
      <a:spcBef>
        <a:spcPct val="0"/>
      </a:spcBef>
      <a:spcAft>
        <a:spcPct val="0"/>
      </a:spcAft>
      <a:defRPr sz="4000" kern="1200">
        <a:solidFill>
          <a:schemeClr val="tx1"/>
        </a:solidFill>
        <a:latin typeface="Arial" charset="0"/>
        <a:ea typeface="+mn-ea"/>
        <a:cs typeface="+mn-cs"/>
      </a:defRPr>
    </a:lvl3pPr>
    <a:lvl4pPr marL="1371600" algn="l" rtl="0" eaLnBrk="0" fontAlgn="base" hangingPunct="0">
      <a:spcBef>
        <a:spcPct val="0"/>
      </a:spcBef>
      <a:spcAft>
        <a:spcPct val="0"/>
      </a:spcAft>
      <a:defRPr sz="4000" kern="1200">
        <a:solidFill>
          <a:schemeClr val="tx1"/>
        </a:solidFill>
        <a:latin typeface="Arial" charset="0"/>
        <a:ea typeface="+mn-ea"/>
        <a:cs typeface="+mn-cs"/>
      </a:defRPr>
    </a:lvl4pPr>
    <a:lvl5pPr marL="1828800" algn="l" rtl="0" eaLnBrk="0" fontAlgn="base" hangingPunct="0">
      <a:spcBef>
        <a:spcPct val="0"/>
      </a:spcBef>
      <a:spcAft>
        <a:spcPct val="0"/>
      </a:spcAft>
      <a:defRPr sz="4000" kern="1200">
        <a:solidFill>
          <a:schemeClr val="tx1"/>
        </a:solidFill>
        <a:latin typeface="Arial" charset="0"/>
        <a:ea typeface="+mn-ea"/>
        <a:cs typeface="+mn-cs"/>
      </a:defRPr>
    </a:lvl5pPr>
    <a:lvl6pPr marL="2286000" algn="l" defTabSz="914400" rtl="0" eaLnBrk="1" latinLnBrk="0" hangingPunct="1">
      <a:defRPr sz="4000" kern="1200">
        <a:solidFill>
          <a:schemeClr val="tx1"/>
        </a:solidFill>
        <a:latin typeface="Arial" charset="0"/>
        <a:ea typeface="+mn-ea"/>
        <a:cs typeface="+mn-cs"/>
      </a:defRPr>
    </a:lvl6pPr>
    <a:lvl7pPr marL="2743200" algn="l" defTabSz="914400" rtl="0" eaLnBrk="1" latinLnBrk="0" hangingPunct="1">
      <a:defRPr sz="4000" kern="1200">
        <a:solidFill>
          <a:schemeClr val="tx1"/>
        </a:solidFill>
        <a:latin typeface="Arial" charset="0"/>
        <a:ea typeface="+mn-ea"/>
        <a:cs typeface="+mn-cs"/>
      </a:defRPr>
    </a:lvl7pPr>
    <a:lvl8pPr marL="3200400" algn="l" defTabSz="914400" rtl="0" eaLnBrk="1" latinLnBrk="0" hangingPunct="1">
      <a:defRPr sz="4000" kern="1200">
        <a:solidFill>
          <a:schemeClr val="tx1"/>
        </a:solidFill>
        <a:latin typeface="Arial" charset="0"/>
        <a:ea typeface="+mn-ea"/>
        <a:cs typeface="+mn-cs"/>
      </a:defRPr>
    </a:lvl8pPr>
    <a:lvl9pPr marL="3657600" algn="l" defTabSz="914400" rtl="0" eaLnBrk="1" latinLnBrk="0" hangingPunct="1">
      <a:defRPr sz="40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931">
          <p15:clr>
            <a:srgbClr val="A4A3A4"/>
          </p15:clr>
        </p15:guide>
        <p15:guide id="2" pos="221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99"/>
    <a:srgbClr val="E7F2E7"/>
    <a:srgbClr val="FFFF00"/>
    <a:srgbClr val="EAEAEA"/>
    <a:srgbClr val="180F9B"/>
    <a:srgbClr val="007B71"/>
    <a:srgbClr val="006F41"/>
    <a:srgbClr val="66A48B"/>
    <a:srgbClr val="DDDDDD"/>
    <a:srgbClr val="91B0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378"/>
    <p:restoredTop sz="94673"/>
  </p:normalViewPr>
  <p:slideViewPr>
    <p:cSldViewPr snapToGrid="0">
      <p:cViewPr>
        <p:scale>
          <a:sx n="83" d="100"/>
          <a:sy n="83" d="100"/>
        </p:scale>
        <p:origin x="430" y="264"/>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guide orient="horz" pos="2931"/>
        <p:guide pos="2211"/>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97553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34815" y="4421034"/>
            <a:ext cx="5150297" cy="4187507"/>
          </a:xfrm>
          <a:prstGeom prst="rect">
            <a:avLst/>
          </a:prstGeom>
          <a:noFill/>
          <a:ln w="12700">
            <a:noFill/>
            <a:miter lim="800000"/>
            <a:headEnd/>
            <a:tailEnd/>
          </a:ln>
          <a:effectLst/>
        </p:spPr>
        <p:txBody>
          <a:bodyPr vert="horz" wrap="square" lIns="92352" tIns="45365" rIns="92352" bIns="4536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51" name="Rectangle 3"/>
          <p:cNvSpPr>
            <a:spLocks noGrp="1" noRot="1" noChangeAspect="1" noChangeArrowheads="1" noTextEdit="1"/>
          </p:cNvSpPr>
          <p:nvPr>
            <p:ph type="sldImg" idx="2"/>
          </p:nvPr>
        </p:nvSpPr>
        <p:spPr bwMode="auto">
          <a:xfrm>
            <a:off x="409575" y="698500"/>
            <a:ext cx="6202363" cy="3489325"/>
          </a:xfrm>
          <a:prstGeom prst="rect">
            <a:avLst/>
          </a:prstGeom>
          <a:noFill/>
          <a:ln w="12700">
            <a:solidFill>
              <a:schemeClr val="tx1"/>
            </a:solidFill>
            <a:miter lim="800000"/>
            <a:headEnd/>
            <a:tailEnd/>
          </a:ln>
          <a:effectLst/>
        </p:spPr>
      </p:sp>
    </p:spTree>
    <p:extLst>
      <p:ext uri="{BB962C8B-B14F-4D97-AF65-F5344CB8AC3E}">
        <p14:creationId xmlns:p14="http://schemas.microsoft.com/office/powerpoint/2010/main" val="334467233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42316522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4866" name="Rectangle 2"/>
          <p:cNvSpPr>
            <a:spLocks noGrp="1" noChangeArrowheads="1"/>
          </p:cNvSpPr>
          <p:nvPr>
            <p:ph type="ctrTitle"/>
          </p:nvPr>
        </p:nvSpPr>
        <p:spPr>
          <a:xfrm>
            <a:off x="508000" y="2286000"/>
            <a:ext cx="11074400" cy="1143000"/>
          </a:xfrm>
        </p:spPr>
        <p:txBody>
          <a:bodyPr/>
          <a:lstStyle>
            <a:lvl1pPr>
              <a:defRPr sz="4400"/>
            </a:lvl1pPr>
          </a:lstStyle>
          <a:p>
            <a:r>
              <a:rPr lang="en-US"/>
              <a:t>Click to edit Master title style</a:t>
            </a:r>
          </a:p>
        </p:txBody>
      </p:sp>
      <p:sp>
        <p:nvSpPr>
          <p:cNvPr id="164867" name="Rectangle 3"/>
          <p:cNvSpPr>
            <a:spLocks noGrp="1" noChangeArrowheads="1"/>
          </p:cNvSpPr>
          <p:nvPr>
            <p:ph type="subTitle" idx="1"/>
          </p:nvPr>
        </p:nvSpPr>
        <p:spPr>
          <a:xfrm>
            <a:off x="508000" y="3886200"/>
            <a:ext cx="11074400" cy="1752600"/>
          </a:xfrm>
        </p:spPr>
        <p:txBody>
          <a:bodyPr/>
          <a:lstStyle>
            <a:lvl1pPr marL="0" indent="0">
              <a:buFont typeface="Wingdings" pitchFamily="2" charset="2"/>
              <a:buNone/>
              <a:defRPr/>
            </a:lvl1pPr>
          </a:lstStyle>
          <a:p>
            <a:r>
              <a:rPr lang="en-US"/>
              <a:t>Click to edit Master subtitle style</a:t>
            </a:r>
          </a:p>
        </p:txBody>
      </p:sp>
      <p:pic>
        <p:nvPicPr>
          <p:cNvPr id="5" name="Picture 4">
            <a:extLst>
              <a:ext uri="{FF2B5EF4-FFF2-40B4-BE49-F238E27FC236}">
                <a16:creationId xmlns:a16="http://schemas.microsoft.com/office/drawing/2014/main" id="{098DE5E9-8470-2675-1530-22A385934FB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2391" y="6163177"/>
            <a:ext cx="1393002" cy="51408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5"/>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08001" y="1371600"/>
            <a:ext cx="54356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46801" y="1371600"/>
            <a:ext cx="54356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2"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2"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4" y="273052"/>
            <a:ext cx="6815668"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2"/>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1"/>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9"/>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13800" y="152400"/>
            <a:ext cx="2768601"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08002" y="152400"/>
            <a:ext cx="8102601"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66A48B">
                <a:gamma/>
                <a:shade val="46275"/>
                <a:invGamma/>
              </a:srgbClr>
            </a:gs>
            <a:gs pos="100000">
              <a:srgbClr val="66A48B"/>
            </a:gs>
          </a:gsLst>
          <a:lin ang="189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508000" y="152400"/>
            <a:ext cx="11074400" cy="1143000"/>
          </a:xfrm>
          <a:prstGeom prst="rect">
            <a:avLst/>
          </a:prstGeom>
          <a:noFill/>
          <a:ln w="12700">
            <a:noFill/>
            <a:miter lim="800000"/>
            <a:headEnd/>
            <a:tailEnd/>
          </a:ln>
          <a:effectLst/>
        </p:spPr>
        <p:txBody>
          <a:bodyPr vert="horz" wrap="square" lIns="90488" tIns="44450" rIns="90488" bIns="44450" numCol="1" anchor="ctr" anchorCtr="0" compatLnSpc="1">
            <a:prstTxWarp prst="textNoShape">
              <a:avLst/>
            </a:prstTxWarp>
          </a:bodyPr>
          <a:lstStyle/>
          <a:p>
            <a:pPr lvl="0"/>
            <a:r>
              <a:rPr lang="en-US"/>
              <a:t>Click to edit Master </a:t>
            </a:r>
          </a:p>
        </p:txBody>
      </p:sp>
      <p:sp>
        <p:nvSpPr>
          <p:cNvPr id="1027" name="Rectangle 3"/>
          <p:cNvSpPr>
            <a:spLocks noGrp="1" noChangeArrowheads="1"/>
          </p:cNvSpPr>
          <p:nvPr>
            <p:ph type="body" idx="1"/>
          </p:nvPr>
        </p:nvSpPr>
        <p:spPr bwMode="auto">
          <a:xfrm>
            <a:off x="508000" y="1371600"/>
            <a:ext cx="11074400" cy="4495800"/>
          </a:xfrm>
          <a:prstGeom prst="rect">
            <a:avLst/>
          </a:prstGeom>
          <a:noFill/>
          <a:ln w="12700">
            <a:noFill/>
            <a:miter lim="800000"/>
            <a:headEnd/>
            <a:tailEnd/>
          </a:ln>
          <a:effectLst/>
        </p:spPr>
        <p:txBody>
          <a:bodyPr vert="horz" wrap="square" lIns="90488" tIns="44450" rIns="90488" bIns="44450" numCol="1" anchor="t" anchorCtr="0" compatLnSpc="1">
            <a:prstTxWarp prst="textNoShape">
              <a:avLst/>
            </a:prstTxWarp>
          </a:body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pic>
        <p:nvPicPr>
          <p:cNvPr id="2" name="Picture 1">
            <a:extLst>
              <a:ext uri="{FF2B5EF4-FFF2-40B4-BE49-F238E27FC236}">
                <a16:creationId xmlns:a16="http://schemas.microsoft.com/office/drawing/2014/main" id="{B86A0BBE-E5C7-670F-C002-DF694B7CB0B1}"/>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12391" y="6163177"/>
            <a:ext cx="1393002" cy="514085"/>
          </a:xfrm>
          <a:prstGeom prst="rect">
            <a:avLst/>
          </a:prstGeom>
        </p:spPr>
      </p:pic>
    </p:spTree>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Lst>
  <p:txStyles>
    <p:titleStyle>
      <a:lvl1pPr algn="l" rtl="0" eaLnBrk="0" fontAlgn="base" hangingPunct="0">
        <a:spcBef>
          <a:spcPct val="0"/>
        </a:spcBef>
        <a:spcAft>
          <a:spcPct val="0"/>
        </a:spcAft>
        <a:defRPr sz="3600" b="1">
          <a:solidFill>
            <a:srgbClr val="FFFF99"/>
          </a:solidFill>
          <a:latin typeface="+mj-lt"/>
          <a:ea typeface="+mj-ea"/>
          <a:cs typeface="+mj-cs"/>
        </a:defRPr>
      </a:lvl1pPr>
      <a:lvl2pPr algn="l" rtl="0" eaLnBrk="0" fontAlgn="base" hangingPunct="0">
        <a:spcBef>
          <a:spcPct val="0"/>
        </a:spcBef>
        <a:spcAft>
          <a:spcPct val="0"/>
        </a:spcAft>
        <a:defRPr sz="3600" b="1">
          <a:solidFill>
            <a:srgbClr val="FFFF99"/>
          </a:solidFill>
          <a:latin typeface="Arial" charset="0"/>
        </a:defRPr>
      </a:lvl2pPr>
      <a:lvl3pPr algn="l" rtl="0" eaLnBrk="0" fontAlgn="base" hangingPunct="0">
        <a:spcBef>
          <a:spcPct val="0"/>
        </a:spcBef>
        <a:spcAft>
          <a:spcPct val="0"/>
        </a:spcAft>
        <a:defRPr sz="3600" b="1">
          <a:solidFill>
            <a:srgbClr val="FFFF99"/>
          </a:solidFill>
          <a:latin typeface="Arial" charset="0"/>
        </a:defRPr>
      </a:lvl3pPr>
      <a:lvl4pPr algn="l" rtl="0" eaLnBrk="0" fontAlgn="base" hangingPunct="0">
        <a:spcBef>
          <a:spcPct val="0"/>
        </a:spcBef>
        <a:spcAft>
          <a:spcPct val="0"/>
        </a:spcAft>
        <a:defRPr sz="3600" b="1">
          <a:solidFill>
            <a:srgbClr val="FFFF99"/>
          </a:solidFill>
          <a:latin typeface="Arial" charset="0"/>
        </a:defRPr>
      </a:lvl4pPr>
      <a:lvl5pPr algn="l" rtl="0" eaLnBrk="0" fontAlgn="base" hangingPunct="0">
        <a:spcBef>
          <a:spcPct val="0"/>
        </a:spcBef>
        <a:spcAft>
          <a:spcPct val="0"/>
        </a:spcAft>
        <a:defRPr sz="3600" b="1">
          <a:solidFill>
            <a:srgbClr val="FFFF99"/>
          </a:solidFill>
          <a:latin typeface="Arial" charset="0"/>
        </a:defRPr>
      </a:lvl5pPr>
      <a:lvl6pPr marL="457200" algn="l" rtl="0" eaLnBrk="0" fontAlgn="base" hangingPunct="0">
        <a:spcBef>
          <a:spcPct val="0"/>
        </a:spcBef>
        <a:spcAft>
          <a:spcPct val="0"/>
        </a:spcAft>
        <a:defRPr sz="3600" b="1">
          <a:solidFill>
            <a:srgbClr val="FFFF99"/>
          </a:solidFill>
          <a:latin typeface="Arial" charset="0"/>
        </a:defRPr>
      </a:lvl6pPr>
      <a:lvl7pPr marL="914400" algn="l" rtl="0" eaLnBrk="0" fontAlgn="base" hangingPunct="0">
        <a:spcBef>
          <a:spcPct val="0"/>
        </a:spcBef>
        <a:spcAft>
          <a:spcPct val="0"/>
        </a:spcAft>
        <a:defRPr sz="3600" b="1">
          <a:solidFill>
            <a:srgbClr val="FFFF99"/>
          </a:solidFill>
          <a:latin typeface="Arial" charset="0"/>
        </a:defRPr>
      </a:lvl7pPr>
      <a:lvl8pPr marL="1371600" algn="l" rtl="0" eaLnBrk="0" fontAlgn="base" hangingPunct="0">
        <a:spcBef>
          <a:spcPct val="0"/>
        </a:spcBef>
        <a:spcAft>
          <a:spcPct val="0"/>
        </a:spcAft>
        <a:defRPr sz="3600" b="1">
          <a:solidFill>
            <a:srgbClr val="FFFF99"/>
          </a:solidFill>
          <a:latin typeface="Arial" charset="0"/>
        </a:defRPr>
      </a:lvl8pPr>
      <a:lvl9pPr marL="1828800" algn="l" rtl="0" eaLnBrk="0" fontAlgn="base" hangingPunct="0">
        <a:spcBef>
          <a:spcPct val="0"/>
        </a:spcBef>
        <a:spcAft>
          <a:spcPct val="0"/>
        </a:spcAft>
        <a:defRPr sz="3600" b="1">
          <a:solidFill>
            <a:srgbClr val="FFFF99"/>
          </a:solidFill>
          <a:latin typeface="Arial" charset="0"/>
        </a:defRPr>
      </a:lvl9pPr>
    </p:titleStyle>
    <p:bodyStyle>
      <a:lvl1pPr marL="342900" indent="-342900" algn="l" rtl="0" eaLnBrk="0" fontAlgn="base" hangingPunct="0">
        <a:spcBef>
          <a:spcPct val="20000"/>
        </a:spcBef>
        <a:spcAft>
          <a:spcPct val="0"/>
        </a:spcAft>
        <a:buClr>
          <a:srgbClr val="FFFF99"/>
        </a:buClr>
        <a:buSzPct val="125000"/>
        <a:buFont typeface="Wingdings" pitchFamily="2" charset="2"/>
        <a:buChar char="§"/>
        <a:defRPr sz="2800" b="1">
          <a:solidFill>
            <a:schemeClr val="bg1"/>
          </a:solidFill>
          <a:latin typeface="+mn-lt"/>
          <a:ea typeface="+mn-ea"/>
          <a:cs typeface="+mn-cs"/>
        </a:defRPr>
      </a:lvl1pPr>
      <a:lvl2pPr marL="742950" indent="-285750" algn="l" rtl="0" eaLnBrk="0" fontAlgn="base" hangingPunct="0">
        <a:spcBef>
          <a:spcPct val="20000"/>
        </a:spcBef>
        <a:spcAft>
          <a:spcPct val="0"/>
        </a:spcAft>
        <a:buClr>
          <a:srgbClr val="FFFF99"/>
        </a:buClr>
        <a:buSzPct val="125000"/>
        <a:buFont typeface="Wingdings" pitchFamily="2" charset="2"/>
        <a:buChar char="§"/>
        <a:defRPr sz="2400" b="1">
          <a:solidFill>
            <a:schemeClr val="bg1"/>
          </a:solidFill>
          <a:latin typeface="+mn-lt"/>
        </a:defRPr>
      </a:lvl2pPr>
      <a:lvl3pPr marL="1143000" indent="-228600" algn="l" rtl="0" eaLnBrk="0" fontAlgn="base" hangingPunct="0">
        <a:spcBef>
          <a:spcPct val="20000"/>
        </a:spcBef>
        <a:spcAft>
          <a:spcPct val="0"/>
        </a:spcAft>
        <a:buClr>
          <a:srgbClr val="FFFF99"/>
        </a:buClr>
        <a:buSzPct val="125000"/>
        <a:buFont typeface="Wingdings" pitchFamily="2" charset="2"/>
        <a:buChar char="§"/>
        <a:defRPr sz="2000" b="1">
          <a:solidFill>
            <a:schemeClr val="bg1"/>
          </a:solidFill>
          <a:latin typeface="+mn-lt"/>
        </a:defRPr>
      </a:lvl3pPr>
      <a:lvl4pPr marL="1600200" indent="-228600" algn="l" rtl="0" eaLnBrk="0" fontAlgn="base" hangingPunct="0">
        <a:spcBef>
          <a:spcPct val="20000"/>
        </a:spcBef>
        <a:spcAft>
          <a:spcPct val="0"/>
        </a:spcAft>
        <a:buClr>
          <a:srgbClr val="FFFF99"/>
        </a:buClr>
        <a:buSzPct val="125000"/>
        <a:buFont typeface="Wingdings" pitchFamily="2" charset="2"/>
        <a:buChar char="§"/>
        <a:defRPr b="1">
          <a:solidFill>
            <a:schemeClr val="bg1"/>
          </a:solidFill>
          <a:latin typeface="+mn-lt"/>
        </a:defRPr>
      </a:lvl4pPr>
      <a:lvl5pPr marL="2057400" indent="-228600" algn="l" rtl="0" eaLnBrk="0" fontAlgn="base" hangingPunct="0">
        <a:spcBef>
          <a:spcPct val="20000"/>
        </a:spcBef>
        <a:spcAft>
          <a:spcPct val="0"/>
        </a:spcAft>
        <a:buClr>
          <a:srgbClr val="FFFF99"/>
        </a:buClr>
        <a:buSzPct val="125000"/>
        <a:buFont typeface="Wingdings" pitchFamily="2" charset="2"/>
        <a:buChar char="§"/>
        <a:defRPr b="1">
          <a:solidFill>
            <a:schemeClr val="bg1"/>
          </a:solidFill>
          <a:latin typeface="+mn-lt"/>
        </a:defRPr>
      </a:lvl5pPr>
      <a:lvl6pPr marL="2514600" indent="-228600" algn="l" rtl="0" eaLnBrk="0" fontAlgn="base" hangingPunct="0">
        <a:spcBef>
          <a:spcPct val="20000"/>
        </a:spcBef>
        <a:spcAft>
          <a:spcPct val="0"/>
        </a:spcAft>
        <a:buClr>
          <a:srgbClr val="FFFF99"/>
        </a:buClr>
        <a:buSzPct val="125000"/>
        <a:buFont typeface="Wingdings" pitchFamily="2" charset="2"/>
        <a:buChar char="§"/>
        <a:defRPr b="1">
          <a:solidFill>
            <a:schemeClr val="bg1"/>
          </a:solidFill>
          <a:latin typeface="+mn-lt"/>
        </a:defRPr>
      </a:lvl6pPr>
      <a:lvl7pPr marL="2971800" indent="-228600" algn="l" rtl="0" eaLnBrk="0" fontAlgn="base" hangingPunct="0">
        <a:spcBef>
          <a:spcPct val="20000"/>
        </a:spcBef>
        <a:spcAft>
          <a:spcPct val="0"/>
        </a:spcAft>
        <a:buClr>
          <a:srgbClr val="FFFF99"/>
        </a:buClr>
        <a:buSzPct val="125000"/>
        <a:buFont typeface="Wingdings" pitchFamily="2" charset="2"/>
        <a:buChar char="§"/>
        <a:defRPr b="1">
          <a:solidFill>
            <a:schemeClr val="bg1"/>
          </a:solidFill>
          <a:latin typeface="+mn-lt"/>
        </a:defRPr>
      </a:lvl7pPr>
      <a:lvl8pPr marL="3429000" indent="-228600" algn="l" rtl="0" eaLnBrk="0" fontAlgn="base" hangingPunct="0">
        <a:spcBef>
          <a:spcPct val="20000"/>
        </a:spcBef>
        <a:spcAft>
          <a:spcPct val="0"/>
        </a:spcAft>
        <a:buClr>
          <a:srgbClr val="FFFF99"/>
        </a:buClr>
        <a:buSzPct val="125000"/>
        <a:buFont typeface="Wingdings" pitchFamily="2" charset="2"/>
        <a:buChar char="§"/>
        <a:defRPr b="1">
          <a:solidFill>
            <a:schemeClr val="bg1"/>
          </a:solidFill>
          <a:latin typeface="+mn-lt"/>
        </a:defRPr>
      </a:lvl8pPr>
      <a:lvl9pPr marL="3886200" indent="-228600" algn="l" rtl="0" eaLnBrk="0" fontAlgn="base" hangingPunct="0">
        <a:spcBef>
          <a:spcPct val="20000"/>
        </a:spcBef>
        <a:spcAft>
          <a:spcPct val="0"/>
        </a:spcAft>
        <a:buClr>
          <a:srgbClr val="FFFF99"/>
        </a:buClr>
        <a:buSzPct val="125000"/>
        <a:buFont typeface="Wingdings" pitchFamily="2" charset="2"/>
        <a:buChar char="§"/>
        <a:defRPr b="1">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svgsilh.com/image/157178.html" TargetMode="External"/><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github.com/MODFLOW-ORG/modflow6/wiki/MODFLOW-Governance-Charter"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doi.org/10.1111/gwat.70073"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5A4E6-E8E3-E1D6-71BC-CBF2C4B361F1}"/>
            </a:ext>
          </a:extLst>
        </p:cNvPr>
        <p:cNvGrpSpPr/>
        <p:nvPr/>
      </p:nvGrpSpPr>
      <p:grpSpPr>
        <a:xfrm>
          <a:off x="0" y="0"/>
          <a:ext cx="0" cy="0"/>
          <a:chOff x="0" y="0"/>
          <a:chExt cx="0" cy="0"/>
        </a:xfrm>
      </p:grpSpPr>
      <p:grpSp>
        <p:nvGrpSpPr>
          <p:cNvPr id="42" name="Group 41">
            <a:extLst>
              <a:ext uri="{FF2B5EF4-FFF2-40B4-BE49-F238E27FC236}">
                <a16:creationId xmlns:a16="http://schemas.microsoft.com/office/drawing/2014/main" id="{C7BAF8D6-BB5D-2730-BDB5-85992C421AD3}"/>
              </a:ext>
            </a:extLst>
          </p:cNvPr>
          <p:cNvGrpSpPr/>
          <p:nvPr/>
        </p:nvGrpSpPr>
        <p:grpSpPr>
          <a:xfrm>
            <a:off x="0" y="713047"/>
            <a:ext cx="12192000" cy="2342971"/>
            <a:chOff x="0" y="457200"/>
            <a:chExt cx="12192000" cy="2342971"/>
          </a:xfrm>
        </p:grpSpPr>
        <p:pic>
          <p:nvPicPr>
            <p:cNvPr id="6" name="Graphic 5">
              <a:extLst>
                <a:ext uri="{FF2B5EF4-FFF2-40B4-BE49-F238E27FC236}">
                  <a16:creationId xmlns:a16="http://schemas.microsoft.com/office/drawing/2014/main" id="{A071C7A4-0742-41E2-0BB8-899052D020E2}"/>
                </a:ext>
              </a:extLst>
            </p:cNvPr>
            <p:cNvPicPr>
              <a:picLocks noChangeAspect="1"/>
            </p:cNvPicPr>
            <p:nvPr/>
          </p:nvPicPr>
          <p:blipFill>
            <a:blip>
              <a:extLst>
                <a:ext uri="{96DAC541-7B7A-43D3-8B79-37D633B846F1}">
                  <asvg:svgBlip xmlns:asvg="http://schemas.microsoft.com/office/drawing/2016/SVG/main" r:embed="rId2"/>
                </a:ext>
                <a:ext uri="{837473B0-CC2E-450A-ABE3-18F120FF3D39}">
                  <a1611:picAttrSrcUrl xmlns:a1611="http://schemas.microsoft.com/office/drawing/2016/11/main" r:id="rId3"/>
                </a:ext>
              </a:extLst>
            </a:blip>
            <a:srcRect t="26236" r="69507" b="23735"/>
            <a:stretch>
              <a:fillRect/>
            </a:stretch>
          </p:blipFill>
          <p:spPr>
            <a:xfrm>
              <a:off x="0" y="457200"/>
              <a:ext cx="2834640" cy="2324100"/>
            </a:xfrm>
            <a:prstGeom prst="rect">
              <a:avLst/>
            </a:prstGeom>
          </p:spPr>
        </p:pic>
        <p:pic>
          <p:nvPicPr>
            <p:cNvPr id="20" name="Graphic 19">
              <a:extLst>
                <a:ext uri="{FF2B5EF4-FFF2-40B4-BE49-F238E27FC236}">
                  <a16:creationId xmlns:a16="http://schemas.microsoft.com/office/drawing/2014/main" id="{4D4F3A5F-5CB9-88C0-9BB1-CD151BB614C7}"/>
                </a:ext>
              </a:extLst>
            </p:cNvPr>
            <p:cNvPicPr>
              <a:picLocks noChangeAspect="1"/>
            </p:cNvPicPr>
            <p:nvPr/>
          </p:nvPicPr>
          <p:blipFill>
            <a:blip>
              <a:extLst>
                <a:ext uri="{96DAC541-7B7A-43D3-8B79-37D633B846F1}">
                  <asvg:svgBlip xmlns:asvg="http://schemas.microsoft.com/office/drawing/2016/SVG/main" r:embed="rId2"/>
                </a:ext>
                <a:ext uri="{837473B0-CC2E-450A-ABE3-18F120FF3D39}">
                  <a1611:picAttrSrcUrl xmlns:a1611="http://schemas.microsoft.com/office/drawing/2016/11/main" r:id="rId3"/>
                </a:ext>
              </a:extLst>
            </a:blip>
            <a:srcRect l="71269" t="26236" b="23735"/>
            <a:stretch>
              <a:fillRect/>
            </a:stretch>
          </p:blipFill>
          <p:spPr>
            <a:xfrm>
              <a:off x="9521064" y="476071"/>
              <a:ext cx="2670936" cy="2324100"/>
            </a:xfrm>
            <a:prstGeom prst="rect">
              <a:avLst/>
            </a:prstGeom>
          </p:spPr>
        </p:pic>
        <p:sp>
          <p:nvSpPr>
            <p:cNvPr id="30" name="Freeform: Shape 29">
              <a:extLst>
                <a:ext uri="{FF2B5EF4-FFF2-40B4-BE49-F238E27FC236}">
                  <a16:creationId xmlns:a16="http://schemas.microsoft.com/office/drawing/2014/main" id="{E4A64559-2F17-2358-A921-BC6829725222}"/>
                </a:ext>
              </a:extLst>
            </p:cNvPr>
            <p:cNvSpPr/>
            <p:nvPr/>
          </p:nvSpPr>
          <p:spPr bwMode="auto">
            <a:xfrm>
              <a:off x="2834640" y="785949"/>
              <a:ext cx="1691640" cy="1045028"/>
            </a:xfrm>
            <a:custGeom>
              <a:avLst/>
              <a:gdLst>
                <a:gd name="csX0" fmla="*/ 0 w 1691640"/>
                <a:gd name="csY0" fmla="*/ 1045028 h 1045028"/>
                <a:gd name="csX1" fmla="*/ 372291 w 1691640"/>
                <a:gd name="csY1" fmla="*/ 6531 h 1045028"/>
                <a:gd name="csX2" fmla="*/ 502920 w 1691640"/>
                <a:gd name="csY2" fmla="*/ 0 h 1045028"/>
                <a:gd name="csX3" fmla="*/ 757646 w 1691640"/>
                <a:gd name="csY3" fmla="*/ 842554 h 1045028"/>
                <a:gd name="csX4" fmla="*/ 1012371 w 1691640"/>
                <a:gd name="csY4" fmla="*/ 0 h 1045028"/>
                <a:gd name="csX5" fmla="*/ 1162594 w 1691640"/>
                <a:gd name="csY5" fmla="*/ 0 h 1045028"/>
                <a:gd name="csX6" fmla="*/ 1449977 w 1691640"/>
                <a:gd name="csY6" fmla="*/ 1038497 h 1045028"/>
                <a:gd name="csX7" fmla="*/ 1691640 w 1691640"/>
                <a:gd name="csY7" fmla="*/ 1038497 h 1045028"/>
                <a:gd name="csX8" fmla="*/ 1678577 w 1691640"/>
                <a:gd name="csY8" fmla="*/ 979714 h 1045028"/>
                <a:gd name="csX0" fmla="*/ 0 w 1691640"/>
                <a:gd name="csY0" fmla="*/ 1045028 h 1045028"/>
                <a:gd name="csX1" fmla="*/ 372291 w 1691640"/>
                <a:gd name="csY1" fmla="*/ 6531 h 1045028"/>
                <a:gd name="csX2" fmla="*/ 502920 w 1691640"/>
                <a:gd name="csY2" fmla="*/ 0 h 1045028"/>
                <a:gd name="csX3" fmla="*/ 757646 w 1691640"/>
                <a:gd name="csY3" fmla="*/ 842554 h 1045028"/>
                <a:gd name="csX4" fmla="*/ 1012371 w 1691640"/>
                <a:gd name="csY4" fmla="*/ 0 h 1045028"/>
                <a:gd name="csX5" fmla="*/ 1162594 w 1691640"/>
                <a:gd name="csY5" fmla="*/ 0 h 1045028"/>
                <a:gd name="csX6" fmla="*/ 1449977 w 1691640"/>
                <a:gd name="csY6" fmla="*/ 1038497 h 1045028"/>
                <a:gd name="csX7" fmla="*/ 1691640 w 1691640"/>
                <a:gd name="csY7" fmla="*/ 1038497 h 1045028"/>
                <a:gd name="csX8" fmla="*/ 1688102 w 1691640"/>
                <a:gd name="csY8" fmla="*/ 977333 h 10450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691640" h="1045028">
                  <a:moveTo>
                    <a:pt x="0" y="1045028"/>
                  </a:moveTo>
                  <a:lnTo>
                    <a:pt x="372291" y="6531"/>
                  </a:lnTo>
                  <a:lnTo>
                    <a:pt x="502920" y="0"/>
                  </a:lnTo>
                  <a:lnTo>
                    <a:pt x="757646" y="842554"/>
                  </a:lnTo>
                  <a:lnTo>
                    <a:pt x="1012371" y="0"/>
                  </a:lnTo>
                  <a:lnTo>
                    <a:pt x="1162594" y="0"/>
                  </a:lnTo>
                  <a:lnTo>
                    <a:pt x="1449977" y="1038497"/>
                  </a:lnTo>
                  <a:lnTo>
                    <a:pt x="1691640" y="1038497"/>
                  </a:lnTo>
                  <a:cubicBezTo>
                    <a:pt x="1687286" y="1018903"/>
                    <a:pt x="1692456" y="996927"/>
                    <a:pt x="1688102" y="977333"/>
                  </a:cubicBezTo>
                </a:path>
              </a:pathLst>
            </a:custGeom>
            <a:no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4000" b="0" i="0" u="none" strike="noStrike" cap="none" normalizeH="0" baseline="0">
                <a:ln>
                  <a:noFill/>
                </a:ln>
                <a:solidFill>
                  <a:schemeClr val="tx1"/>
                </a:solidFill>
                <a:effectLst/>
                <a:latin typeface="Arial" charset="0"/>
              </a:endParaRPr>
            </a:p>
          </p:txBody>
        </p:sp>
        <p:sp>
          <p:nvSpPr>
            <p:cNvPr id="31" name="Freeform: Shape 30">
              <a:extLst>
                <a:ext uri="{FF2B5EF4-FFF2-40B4-BE49-F238E27FC236}">
                  <a16:creationId xmlns:a16="http://schemas.microsoft.com/office/drawing/2014/main" id="{FC4CEB96-BD73-E59A-795B-8C04ED9BEA75}"/>
                </a:ext>
              </a:extLst>
            </p:cNvPr>
            <p:cNvSpPr/>
            <p:nvPr/>
          </p:nvSpPr>
          <p:spPr bwMode="auto">
            <a:xfrm>
              <a:off x="4957354" y="785949"/>
              <a:ext cx="574766" cy="1038497"/>
            </a:xfrm>
            <a:custGeom>
              <a:avLst/>
              <a:gdLst>
                <a:gd name="csX0" fmla="*/ 0 w 574766"/>
                <a:gd name="csY0" fmla="*/ 979714 h 1038497"/>
                <a:gd name="csX1" fmla="*/ 6532 w 574766"/>
                <a:gd name="csY1" fmla="*/ 1038497 h 1038497"/>
                <a:gd name="csX2" fmla="*/ 411480 w 574766"/>
                <a:gd name="csY2" fmla="*/ 1031965 h 1038497"/>
                <a:gd name="csX3" fmla="*/ 411480 w 574766"/>
                <a:gd name="csY3" fmla="*/ 6531 h 1038497"/>
                <a:gd name="csX4" fmla="*/ 574766 w 574766"/>
                <a:gd name="csY4" fmla="*/ 0 h 1038497"/>
              </a:gdLst>
              <a:ahLst/>
              <a:cxnLst>
                <a:cxn ang="0">
                  <a:pos x="csX0" y="csY0"/>
                </a:cxn>
                <a:cxn ang="0">
                  <a:pos x="csX1" y="csY1"/>
                </a:cxn>
                <a:cxn ang="0">
                  <a:pos x="csX2" y="csY2"/>
                </a:cxn>
                <a:cxn ang="0">
                  <a:pos x="csX3" y="csY3"/>
                </a:cxn>
                <a:cxn ang="0">
                  <a:pos x="csX4" y="csY4"/>
                </a:cxn>
              </a:cxnLst>
              <a:rect l="l" t="t" r="r" b="b"/>
              <a:pathLst>
                <a:path w="574766" h="1038497">
                  <a:moveTo>
                    <a:pt x="0" y="979714"/>
                  </a:moveTo>
                  <a:lnTo>
                    <a:pt x="6532" y="1038497"/>
                  </a:lnTo>
                  <a:lnTo>
                    <a:pt x="411480" y="1031965"/>
                  </a:lnTo>
                  <a:lnTo>
                    <a:pt x="411480" y="6531"/>
                  </a:lnTo>
                  <a:lnTo>
                    <a:pt x="574766" y="0"/>
                  </a:lnTo>
                </a:path>
              </a:pathLst>
            </a:custGeom>
            <a:no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4000" b="0" i="0" u="none" strike="noStrike" cap="none" normalizeH="0" baseline="0">
                <a:ln>
                  <a:noFill/>
                </a:ln>
                <a:solidFill>
                  <a:schemeClr val="tx1"/>
                </a:solidFill>
                <a:effectLst/>
                <a:latin typeface="Arial" charset="0"/>
              </a:endParaRPr>
            </a:p>
          </p:txBody>
        </p:sp>
        <p:sp>
          <p:nvSpPr>
            <p:cNvPr id="32" name="Freeform: Shape 31">
              <a:extLst>
                <a:ext uri="{FF2B5EF4-FFF2-40B4-BE49-F238E27FC236}">
                  <a16:creationId xmlns:a16="http://schemas.microsoft.com/office/drawing/2014/main" id="{0F3E67E4-FB42-1912-1816-3DD7F67478AE}"/>
                </a:ext>
              </a:extLst>
            </p:cNvPr>
            <p:cNvSpPr/>
            <p:nvPr/>
          </p:nvSpPr>
          <p:spPr bwMode="auto">
            <a:xfrm>
              <a:off x="5682343" y="818606"/>
              <a:ext cx="1717766" cy="1031965"/>
            </a:xfrm>
            <a:custGeom>
              <a:avLst/>
              <a:gdLst>
                <a:gd name="csX0" fmla="*/ 0 w 1717766"/>
                <a:gd name="csY0" fmla="*/ 966651 h 1031965"/>
                <a:gd name="csX1" fmla="*/ 0 w 1717766"/>
                <a:gd name="csY1" fmla="*/ 1031965 h 1031965"/>
                <a:gd name="csX2" fmla="*/ 320040 w 1717766"/>
                <a:gd name="csY2" fmla="*/ 1031965 h 1031965"/>
                <a:gd name="csX3" fmla="*/ 320040 w 1717766"/>
                <a:gd name="csY3" fmla="*/ 0 h 1031965"/>
                <a:gd name="csX4" fmla="*/ 836023 w 1717766"/>
                <a:gd name="csY4" fmla="*/ 0 h 1031965"/>
                <a:gd name="csX5" fmla="*/ 836023 w 1717766"/>
                <a:gd name="csY5" fmla="*/ 111034 h 1031965"/>
                <a:gd name="csX6" fmla="*/ 437606 w 1717766"/>
                <a:gd name="csY6" fmla="*/ 111034 h 1031965"/>
                <a:gd name="csX7" fmla="*/ 437606 w 1717766"/>
                <a:gd name="csY7" fmla="*/ 437605 h 1031965"/>
                <a:gd name="csX8" fmla="*/ 816428 w 1717766"/>
                <a:gd name="csY8" fmla="*/ 437605 h 1031965"/>
                <a:gd name="csX9" fmla="*/ 816428 w 1717766"/>
                <a:gd name="csY9" fmla="*/ 548640 h 1031965"/>
                <a:gd name="csX10" fmla="*/ 463731 w 1717766"/>
                <a:gd name="csY10" fmla="*/ 548640 h 1031965"/>
                <a:gd name="csX11" fmla="*/ 463731 w 1717766"/>
                <a:gd name="csY11" fmla="*/ 1025434 h 1031965"/>
                <a:gd name="csX12" fmla="*/ 947057 w 1717766"/>
                <a:gd name="csY12" fmla="*/ 1025434 h 1031965"/>
                <a:gd name="csX13" fmla="*/ 947057 w 1717766"/>
                <a:gd name="csY13" fmla="*/ 6531 h 1031965"/>
                <a:gd name="csX14" fmla="*/ 1077686 w 1717766"/>
                <a:gd name="csY14" fmla="*/ 6531 h 1031965"/>
                <a:gd name="csX15" fmla="*/ 1077686 w 1717766"/>
                <a:gd name="csY15" fmla="*/ 914400 h 1031965"/>
                <a:gd name="csX16" fmla="*/ 1482634 w 1717766"/>
                <a:gd name="csY16" fmla="*/ 914400 h 1031965"/>
                <a:gd name="csX17" fmla="*/ 1482634 w 1717766"/>
                <a:gd name="csY17" fmla="*/ 1031965 h 1031965"/>
                <a:gd name="csX18" fmla="*/ 1717766 w 1717766"/>
                <a:gd name="csY18" fmla="*/ 1031965 h 1031965"/>
                <a:gd name="csX19" fmla="*/ 1717766 w 1717766"/>
                <a:gd name="csY19" fmla="*/ 979714 h 10319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717766" h="1031965">
                  <a:moveTo>
                    <a:pt x="0" y="966651"/>
                  </a:moveTo>
                  <a:lnTo>
                    <a:pt x="0" y="1031965"/>
                  </a:lnTo>
                  <a:lnTo>
                    <a:pt x="320040" y="1031965"/>
                  </a:lnTo>
                  <a:lnTo>
                    <a:pt x="320040" y="0"/>
                  </a:lnTo>
                  <a:lnTo>
                    <a:pt x="836023" y="0"/>
                  </a:lnTo>
                  <a:lnTo>
                    <a:pt x="836023" y="111034"/>
                  </a:lnTo>
                  <a:lnTo>
                    <a:pt x="437606" y="111034"/>
                  </a:lnTo>
                  <a:lnTo>
                    <a:pt x="437606" y="437605"/>
                  </a:lnTo>
                  <a:lnTo>
                    <a:pt x="816428" y="437605"/>
                  </a:lnTo>
                  <a:lnTo>
                    <a:pt x="816428" y="548640"/>
                  </a:lnTo>
                  <a:lnTo>
                    <a:pt x="463731" y="548640"/>
                  </a:lnTo>
                  <a:lnTo>
                    <a:pt x="463731" y="1025434"/>
                  </a:lnTo>
                  <a:lnTo>
                    <a:pt x="947057" y="1025434"/>
                  </a:lnTo>
                  <a:lnTo>
                    <a:pt x="947057" y="6531"/>
                  </a:lnTo>
                  <a:lnTo>
                    <a:pt x="1077686" y="6531"/>
                  </a:lnTo>
                  <a:lnTo>
                    <a:pt x="1077686" y="914400"/>
                  </a:lnTo>
                  <a:lnTo>
                    <a:pt x="1482634" y="914400"/>
                  </a:lnTo>
                  <a:lnTo>
                    <a:pt x="1482634" y="1031965"/>
                  </a:lnTo>
                  <a:lnTo>
                    <a:pt x="1717766" y="1031965"/>
                  </a:lnTo>
                  <a:lnTo>
                    <a:pt x="1717766" y="979714"/>
                  </a:lnTo>
                </a:path>
              </a:pathLst>
            </a:custGeom>
            <a:no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4000" b="0" i="0" u="none" strike="noStrike" cap="none" normalizeH="0" baseline="0">
                <a:ln>
                  <a:noFill/>
                </a:ln>
                <a:solidFill>
                  <a:schemeClr val="tx1"/>
                </a:solidFill>
                <a:effectLst/>
                <a:latin typeface="Arial" charset="0"/>
              </a:endParaRPr>
            </a:p>
          </p:txBody>
        </p:sp>
        <p:sp>
          <p:nvSpPr>
            <p:cNvPr id="33" name="Freeform: Shape 32">
              <a:extLst>
                <a:ext uri="{FF2B5EF4-FFF2-40B4-BE49-F238E27FC236}">
                  <a16:creationId xmlns:a16="http://schemas.microsoft.com/office/drawing/2014/main" id="{B827C2A6-AF3E-B129-7AEB-51320FE8A6F8}"/>
                </a:ext>
              </a:extLst>
            </p:cNvPr>
            <p:cNvSpPr/>
            <p:nvPr/>
          </p:nvSpPr>
          <p:spPr bwMode="auto">
            <a:xfrm>
              <a:off x="7831183" y="812074"/>
              <a:ext cx="1796143" cy="1045029"/>
            </a:xfrm>
            <a:custGeom>
              <a:avLst/>
              <a:gdLst>
                <a:gd name="csX0" fmla="*/ 0 w 1796143"/>
                <a:gd name="csY0" fmla="*/ 973183 h 1045029"/>
                <a:gd name="csX1" fmla="*/ 0 w 1796143"/>
                <a:gd name="csY1" fmla="*/ 1045029 h 1045029"/>
                <a:gd name="csX2" fmla="*/ 561703 w 1796143"/>
                <a:gd name="csY2" fmla="*/ 1045029 h 1045029"/>
                <a:gd name="csX3" fmla="*/ 254726 w 1796143"/>
                <a:gd name="csY3" fmla="*/ 6532 h 1045029"/>
                <a:gd name="csX4" fmla="*/ 398417 w 1796143"/>
                <a:gd name="csY4" fmla="*/ 6532 h 1045029"/>
                <a:gd name="csX5" fmla="*/ 640080 w 1796143"/>
                <a:gd name="csY5" fmla="*/ 888275 h 1045029"/>
                <a:gd name="csX6" fmla="*/ 888274 w 1796143"/>
                <a:gd name="csY6" fmla="*/ 0 h 1045029"/>
                <a:gd name="csX7" fmla="*/ 1045028 w 1796143"/>
                <a:gd name="csY7" fmla="*/ 0 h 1045029"/>
                <a:gd name="csX8" fmla="*/ 1312817 w 1796143"/>
                <a:gd name="csY8" fmla="*/ 868680 h 1045029"/>
                <a:gd name="csX9" fmla="*/ 1567543 w 1796143"/>
                <a:gd name="csY9" fmla="*/ 6532 h 1045029"/>
                <a:gd name="csX10" fmla="*/ 1698171 w 1796143"/>
                <a:gd name="csY10" fmla="*/ 6532 h 1045029"/>
                <a:gd name="csX11" fmla="*/ 1384663 w 1796143"/>
                <a:gd name="csY11" fmla="*/ 1045029 h 1045029"/>
                <a:gd name="csX12" fmla="*/ 1796143 w 1796143"/>
                <a:gd name="csY12" fmla="*/ 1045029 h 10450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796143" h="1045029">
                  <a:moveTo>
                    <a:pt x="0" y="973183"/>
                  </a:moveTo>
                  <a:lnTo>
                    <a:pt x="0" y="1045029"/>
                  </a:lnTo>
                  <a:lnTo>
                    <a:pt x="561703" y="1045029"/>
                  </a:lnTo>
                  <a:lnTo>
                    <a:pt x="254726" y="6532"/>
                  </a:lnTo>
                  <a:lnTo>
                    <a:pt x="398417" y="6532"/>
                  </a:lnTo>
                  <a:lnTo>
                    <a:pt x="640080" y="888275"/>
                  </a:lnTo>
                  <a:lnTo>
                    <a:pt x="888274" y="0"/>
                  </a:lnTo>
                  <a:lnTo>
                    <a:pt x="1045028" y="0"/>
                  </a:lnTo>
                  <a:lnTo>
                    <a:pt x="1312817" y="868680"/>
                  </a:lnTo>
                  <a:lnTo>
                    <a:pt x="1567543" y="6532"/>
                  </a:lnTo>
                  <a:lnTo>
                    <a:pt x="1698171" y="6532"/>
                  </a:lnTo>
                  <a:lnTo>
                    <a:pt x="1384663" y="1045029"/>
                  </a:lnTo>
                  <a:lnTo>
                    <a:pt x="1796143" y="1045029"/>
                  </a:lnTo>
                </a:path>
              </a:pathLst>
            </a:custGeom>
            <a:no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4000" b="0" i="0" u="none" strike="noStrike" cap="none" normalizeH="0" baseline="0">
                <a:ln>
                  <a:noFill/>
                </a:ln>
                <a:solidFill>
                  <a:schemeClr val="tx1"/>
                </a:solidFill>
                <a:effectLst/>
                <a:latin typeface="Arial" charset="0"/>
              </a:endParaRPr>
            </a:p>
          </p:txBody>
        </p:sp>
        <p:sp>
          <p:nvSpPr>
            <p:cNvPr id="39" name="Freeform: Shape 38">
              <a:extLst>
                <a:ext uri="{FF2B5EF4-FFF2-40B4-BE49-F238E27FC236}">
                  <a16:creationId xmlns:a16="http://schemas.microsoft.com/office/drawing/2014/main" id="{9D4D3225-6C74-1C32-F1FA-72E2706300FB}"/>
                </a:ext>
              </a:extLst>
            </p:cNvPr>
            <p:cNvSpPr/>
            <p:nvPr/>
          </p:nvSpPr>
          <p:spPr bwMode="auto">
            <a:xfrm>
              <a:off x="5507831" y="783429"/>
              <a:ext cx="385267" cy="1014412"/>
            </a:xfrm>
            <a:custGeom>
              <a:avLst/>
              <a:gdLst>
                <a:gd name="csX0" fmla="*/ 0 w 385267"/>
                <a:gd name="csY0" fmla="*/ 0 h 995362"/>
                <a:gd name="csX1" fmla="*/ 73819 w 385267"/>
                <a:gd name="csY1" fmla="*/ 14287 h 995362"/>
                <a:gd name="csX2" fmla="*/ 140494 w 385267"/>
                <a:gd name="csY2" fmla="*/ 42862 h 995362"/>
                <a:gd name="csX3" fmla="*/ 192881 w 385267"/>
                <a:gd name="csY3" fmla="*/ 83344 h 995362"/>
                <a:gd name="csX4" fmla="*/ 250031 w 385267"/>
                <a:gd name="csY4" fmla="*/ 140494 h 995362"/>
                <a:gd name="csX5" fmla="*/ 285750 w 385267"/>
                <a:gd name="csY5" fmla="*/ 185737 h 995362"/>
                <a:gd name="csX6" fmla="*/ 321469 w 385267"/>
                <a:gd name="csY6" fmla="*/ 252412 h 995362"/>
                <a:gd name="csX7" fmla="*/ 350044 w 385267"/>
                <a:gd name="csY7" fmla="*/ 314325 h 995362"/>
                <a:gd name="csX8" fmla="*/ 376237 w 385267"/>
                <a:gd name="csY8" fmla="*/ 409575 h 995362"/>
                <a:gd name="csX9" fmla="*/ 383381 w 385267"/>
                <a:gd name="csY9" fmla="*/ 509587 h 995362"/>
                <a:gd name="csX10" fmla="*/ 383381 w 385267"/>
                <a:gd name="csY10" fmla="*/ 614362 h 995362"/>
                <a:gd name="csX11" fmla="*/ 361950 w 385267"/>
                <a:gd name="csY11" fmla="*/ 711994 h 995362"/>
                <a:gd name="csX12" fmla="*/ 340519 w 385267"/>
                <a:gd name="csY12" fmla="*/ 778669 h 995362"/>
                <a:gd name="csX13" fmla="*/ 304800 w 385267"/>
                <a:gd name="csY13" fmla="*/ 850106 h 995362"/>
                <a:gd name="csX14" fmla="*/ 259556 w 385267"/>
                <a:gd name="csY14" fmla="*/ 914400 h 995362"/>
                <a:gd name="csX15" fmla="*/ 228600 w 385267"/>
                <a:gd name="csY15" fmla="*/ 954881 h 995362"/>
                <a:gd name="csX16" fmla="*/ 195262 w 385267"/>
                <a:gd name="csY16" fmla="*/ 981075 h 995362"/>
                <a:gd name="csX17" fmla="*/ 178594 w 385267"/>
                <a:gd name="csY17" fmla="*/ 995362 h 995362"/>
                <a:gd name="csX0" fmla="*/ 0 w 385267"/>
                <a:gd name="csY0" fmla="*/ 0 h 1014412"/>
                <a:gd name="csX1" fmla="*/ 73819 w 385267"/>
                <a:gd name="csY1" fmla="*/ 14287 h 1014412"/>
                <a:gd name="csX2" fmla="*/ 140494 w 385267"/>
                <a:gd name="csY2" fmla="*/ 42862 h 1014412"/>
                <a:gd name="csX3" fmla="*/ 192881 w 385267"/>
                <a:gd name="csY3" fmla="*/ 83344 h 1014412"/>
                <a:gd name="csX4" fmla="*/ 250031 w 385267"/>
                <a:gd name="csY4" fmla="*/ 140494 h 1014412"/>
                <a:gd name="csX5" fmla="*/ 285750 w 385267"/>
                <a:gd name="csY5" fmla="*/ 185737 h 1014412"/>
                <a:gd name="csX6" fmla="*/ 321469 w 385267"/>
                <a:gd name="csY6" fmla="*/ 252412 h 1014412"/>
                <a:gd name="csX7" fmla="*/ 350044 w 385267"/>
                <a:gd name="csY7" fmla="*/ 314325 h 1014412"/>
                <a:gd name="csX8" fmla="*/ 376237 w 385267"/>
                <a:gd name="csY8" fmla="*/ 409575 h 1014412"/>
                <a:gd name="csX9" fmla="*/ 383381 w 385267"/>
                <a:gd name="csY9" fmla="*/ 509587 h 1014412"/>
                <a:gd name="csX10" fmla="*/ 383381 w 385267"/>
                <a:gd name="csY10" fmla="*/ 614362 h 1014412"/>
                <a:gd name="csX11" fmla="*/ 361950 w 385267"/>
                <a:gd name="csY11" fmla="*/ 711994 h 1014412"/>
                <a:gd name="csX12" fmla="*/ 340519 w 385267"/>
                <a:gd name="csY12" fmla="*/ 778669 h 1014412"/>
                <a:gd name="csX13" fmla="*/ 304800 w 385267"/>
                <a:gd name="csY13" fmla="*/ 850106 h 1014412"/>
                <a:gd name="csX14" fmla="*/ 259556 w 385267"/>
                <a:gd name="csY14" fmla="*/ 914400 h 1014412"/>
                <a:gd name="csX15" fmla="*/ 228600 w 385267"/>
                <a:gd name="csY15" fmla="*/ 954881 h 1014412"/>
                <a:gd name="csX16" fmla="*/ 195262 w 385267"/>
                <a:gd name="csY16" fmla="*/ 981075 h 1014412"/>
                <a:gd name="csX17" fmla="*/ 159544 w 385267"/>
                <a:gd name="csY17" fmla="*/ 1014412 h 10144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385267" h="1014412">
                  <a:moveTo>
                    <a:pt x="0" y="0"/>
                  </a:moveTo>
                  <a:cubicBezTo>
                    <a:pt x="25201" y="3571"/>
                    <a:pt x="50403" y="7143"/>
                    <a:pt x="73819" y="14287"/>
                  </a:cubicBezTo>
                  <a:cubicBezTo>
                    <a:pt x="97235" y="21431"/>
                    <a:pt x="120650" y="31353"/>
                    <a:pt x="140494" y="42862"/>
                  </a:cubicBezTo>
                  <a:cubicBezTo>
                    <a:pt x="160338" y="54371"/>
                    <a:pt x="174625" y="67072"/>
                    <a:pt x="192881" y="83344"/>
                  </a:cubicBezTo>
                  <a:cubicBezTo>
                    <a:pt x="211137" y="99616"/>
                    <a:pt x="234553" y="123429"/>
                    <a:pt x="250031" y="140494"/>
                  </a:cubicBezTo>
                  <a:cubicBezTo>
                    <a:pt x="265509" y="157559"/>
                    <a:pt x="273844" y="167084"/>
                    <a:pt x="285750" y="185737"/>
                  </a:cubicBezTo>
                  <a:cubicBezTo>
                    <a:pt x="297656" y="204390"/>
                    <a:pt x="310753" y="230981"/>
                    <a:pt x="321469" y="252412"/>
                  </a:cubicBezTo>
                  <a:cubicBezTo>
                    <a:pt x="332185" y="273843"/>
                    <a:pt x="340916" y="288131"/>
                    <a:pt x="350044" y="314325"/>
                  </a:cubicBezTo>
                  <a:cubicBezTo>
                    <a:pt x="359172" y="340519"/>
                    <a:pt x="370681" y="377031"/>
                    <a:pt x="376237" y="409575"/>
                  </a:cubicBezTo>
                  <a:cubicBezTo>
                    <a:pt x="381793" y="442119"/>
                    <a:pt x="382190" y="475456"/>
                    <a:pt x="383381" y="509587"/>
                  </a:cubicBezTo>
                  <a:cubicBezTo>
                    <a:pt x="384572" y="543718"/>
                    <a:pt x="386953" y="580628"/>
                    <a:pt x="383381" y="614362"/>
                  </a:cubicBezTo>
                  <a:cubicBezTo>
                    <a:pt x="379809" y="648097"/>
                    <a:pt x="369094" y="684610"/>
                    <a:pt x="361950" y="711994"/>
                  </a:cubicBezTo>
                  <a:cubicBezTo>
                    <a:pt x="354806" y="739379"/>
                    <a:pt x="350044" y="755650"/>
                    <a:pt x="340519" y="778669"/>
                  </a:cubicBezTo>
                  <a:cubicBezTo>
                    <a:pt x="330994" y="801688"/>
                    <a:pt x="318294" y="827484"/>
                    <a:pt x="304800" y="850106"/>
                  </a:cubicBezTo>
                  <a:cubicBezTo>
                    <a:pt x="291306" y="872728"/>
                    <a:pt x="272256" y="896938"/>
                    <a:pt x="259556" y="914400"/>
                  </a:cubicBezTo>
                  <a:cubicBezTo>
                    <a:pt x="246856" y="931863"/>
                    <a:pt x="239316" y="943769"/>
                    <a:pt x="228600" y="954881"/>
                  </a:cubicBezTo>
                  <a:cubicBezTo>
                    <a:pt x="217884" y="965993"/>
                    <a:pt x="203596" y="974328"/>
                    <a:pt x="195262" y="981075"/>
                  </a:cubicBezTo>
                  <a:cubicBezTo>
                    <a:pt x="186928" y="987822"/>
                    <a:pt x="163711" y="1010642"/>
                    <a:pt x="159544" y="1014412"/>
                  </a:cubicBezTo>
                </a:path>
              </a:pathLst>
            </a:custGeom>
            <a:no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4000" b="0" i="0" u="none" strike="noStrike" cap="none" normalizeH="0" baseline="0">
                <a:ln>
                  <a:noFill/>
                </a:ln>
                <a:solidFill>
                  <a:schemeClr val="tx1"/>
                </a:solidFill>
                <a:effectLst/>
                <a:latin typeface="Arial" charset="0"/>
              </a:endParaRPr>
            </a:p>
          </p:txBody>
        </p:sp>
        <p:sp>
          <p:nvSpPr>
            <p:cNvPr id="40" name="Freeform: Shape 39">
              <a:extLst>
                <a:ext uri="{FF2B5EF4-FFF2-40B4-BE49-F238E27FC236}">
                  <a16:creationId xmlns:a16="http://schemas.microsoft.com/office/drawing/2014/main" id="{F91DE060-AE9D-0B55-DCC9-B51CF8F59824}"/>
                </a:ext>
              </a:extLst>
            </p:cNvPr>
            <p:cNvSpPr/>
            <p:nvPr/>
          </p:nvSpPr>
          <p:spPr bwMode="auto">
            <a:xfrm>
              <a:off x="4304481" y="762000"/>
              <a:ext cx="846646" cy="1018481"/>
            </a:xfrm>
            <a:custGeom>
              <a:avLst/>
              <a:gdLst>
                <a:gd name="csX0" fmla="*/ 227037 w 846646"/>
                <a:gd name="csY0" fmla="*/ 1016099 h 1016099"/>
                <a:gd name="csX1" fmla="*/ 165125 w 846646"/>
                <a:gd name="csY1" fmla="*/ 968474 h 1016099"/>
                <a:gd name="csX2" fmla="*/ 107975 w 846646"/>
                <a:gd name="csY2" fmla="*/ 904181 h 1016099"/>
                <a:gd name="csX3" fmla="*/ 74637 w 846646"/>
                <a:gd name="csY3" fmla="*/ 851793 h 1016099"/>
                <a:gd name="csX4" fmla="*/ 36537 w 846646"/>
                <a:gd name="csY4" fmla="*/ 770831 h 1016099"/>
                <a:gd name="csX5" fmla="*/ 10344 w 846646"/>
                <a:gd name="csY5" fmla="*/ 668437 h 1016099"/>
                <a:gd name="csX6" fmla="*/ 819 w 846646"/>
                <a:gd name="csY6" fmla="*/ 575568 h 1016099"/>
                <a:gd name="csX7" fmla="*/ 3200 w 846646"/>
                <a:gd name="csY7" fmla="*/ 487462 h 1016099"/>
                <a:gd name="csX8" fmla="*/ 24631 w 846646"/>
                <a:gd name="csY8" fmla="*/ 370781 h 1016099"/>
                <a:gd name="csX9" fmla="*/ 60350 w 846646"/>
                <a:gd name="csY9" fmla="*/ 273149 h 1016099"/>
                <a:gd name="csX10" fmla="*/ 110356 w 846646"/>
                <a:gd name="csY10" fmla="*/ 187424 h 1016099"/>
                <a:gd name="csX11" fmla="*/ 177031 w 846646"/>
                <a:gd name="csY11" fmla="*/ 106462 h 1016099"/>
                <a:gd name="csX12" fmla="*/ 267519 w 846646"/>
                <a:gd name="csY12" fmla="*/ 39787 h 1016099"/>
                <a:gd name="csX13" fmla="*/ 322287 w 846646"/>
                <a:gd name="csY13" fmla="*/ 18356 h 1016099"/>
                <a:gd name="csX14" fmla="*/ 393725 w 846646"/>
                <a:gd name="csY14" fmla="*/ 1687 h 1016099"/>
                <a:gd name="csX15" fmla="*/ 484212 w 846646"/>
                <a:gd name="csY15" fmla="*/ 4068 h 1016099"/>
                <a:gd name="csX16" fmla="*/ 579462 w 846646"/>
                <a:gd name="csY16" fmla="*/ 32643 h 1016099"/>
                <a:gd name="csX17" fmla="*/ 646137 w 846646"/>
                <a:gd name="csY17" fmla="*/ 73124 h 1016099"/>
                <a:gd name="csX18" fmla="*/ 708050 w 846646"/>
                <a:gd name="csY18" fmla="*/ 130274 h 1016099"/>
                <a:gd name="csX19" fmla="*/ 758056 w 846646"/>
                <a:gd name="csY19" fmla="*/ 196949 h 1016099"/>
                <a:gd name="csX20" fmla="*/ 815206 w 846646"/>
                <a:gd name="csY20" fmla="*/ 316012 h 1016099"/>
                <a:gd name="csX21" fmla="*/ 834256 w 846646"/>
                <a:gd name="csY21" fmla="*/ 399356 h 1016099"/>
                <a:gd name="csX22" fmla="*/ 846162 w 846646"/>
                <a:gd name="csY22" fmla="*/ 511274 h 1016099"/>
                <a:gd name="csX23" fmla="*/ 841400 w 846646"/>
                <a:gd name="csY23" fmla="*/ 647006 h 1016099"/>
                <a:gd name="csX24" fmla="*/ 815206 w 846646"/>
                <a:gd name="csY24" fmla="*/ 763687 h 1016099"/>
                <a:gd name="csX25" fmla="*/ 762819 w 846646"/>
                <a:gd name="csY25" fmla="*/ 866081 h 1016099"/>
                <a:gd name="csX26" fmla="*/ 703287 w 846646"/>
                <a:gd name="csY26" fmla="*/ 942281 h 1016099"/>
                <a:gd name="csX27" fmla="*/ 653281 w 846646"/>
                <a:gd name="csY27" fmla="*/ 994668 h 1016099"/>
                <a:gd name="csX0" fmla="*/ 227037 w 846646"/>
                <a:gd name="csY0" fmla="*/ 1016099 h 1018481"/>
                <a:gd name="csX1" fmla="*/ 165125 w 846646"/>
                <a:gd name="csY1" fmla="*/ 968474 h 1018481"/>
                <a:gd name="csX2" fmla="*/ 107975 w 846646"/>
                <a:gd name="csY2" fmla="*/ 904181 h 1018481"/>
                <a:gd name="csX3" fmla="*/ 74637 w 846646"/>
                <a:gd name="csY3" fmla="*/ 851793 h 1018481"/>
                <a:gd name="csX4" fmla="*/ 36537 w 846646"/>
                <a:gd name="csY4" fmla="*/ 770831 h 1018481"/>
                <a:gd name="csX5" fmla="*/ 10344 w 846646"/>
                <a:gd name="csY5" fmla="*/ 668437 h 1018481"/>
                <a:gd name="csX6" fmla="*/ 819 w 846646"/>
                <a:gd name="csY6" fmla="*/ 575568 h 1018481"/>
                <a:gd name="csX7" fmla="*/ 3200 w 846646"/>
                <a:gd name="csY7" fmla="*/ 487462 h 1018481"/>
                <a:gd name="csX8" fmla="*/ 24631 w 846646"/>
                <a:gd name="csY8" fmla="*/ 370781 h 1018481"/>
                <a:gd name="csX9" fmla="*/ 60350 w 846646"/>
                <a:gd name="csY9" fmla="*/ 273149 h 1018481"/>
                <a:gd name="csX10" fmla="*/ 110356 w 846646"/>
                <a:gd name="csY10" fmla="*/ 187424 h 1018481"/>
                <a:gd name="csX11" fmla="*/ 177031 w 846646"/>
                <a:gd name="csY11" fmla="*/ 106462 h 1018481"/>
                <a:gd name="csX12" fmla="*/ 267519 w 846646"/>
                <a:gd name="csY12" fmla="*/ 39787 h 1018481"/>
                <a:gd name="csX13" fmla="*/ 322287 w 846646"/>
                <a:gd name="csY13" fmla="*/ 18356 h 1018481"/>
                <a:gd name="csX14" fmla="*/ 393725 w 846646"/>
                <a:gd name="csY14" fmla="*/ 1687 h 1018481"/>
                <a:gd name="csX15" fmla="*/ 484212 w 846646"/>
                <a:gd name="csY15" fmla="*/ 4068 h 1018481"/>
                <a:gd name="csX16" fmla="*/ 579462 w 846646"/>
                <a:gd name="csY16" fmla="*/ 32643 h 1018481"/>
                <a:gd name="csX17" fmla="*/ 646137 w 846646"/>
                <a:gd name="csY17" fmla="*/ 73124 h 1018481"/>
                <a:gd name="csX18" fmla="*/ 708050 w 846646"/>
                <a:gd name="csY18" fmla="*/ 130274 h 1018481"/>
                <a:gd name="csX19" fmla="*/ 758056 w 846646"/>
                <a:gd name="csY19" fmla="*/ 196949 h 1018481"/>
                <a:gd name="csX20" fmla="*/ 815206 w 846646"/>
                <a:gd name="csY20" fmla="*/ 316012 h 1018481"/>
                <a:gd name="csX21" fmla="*/ 834256 w 846646"/>
                <a:gd name="csY21" fmla="*/ 399356 h 1018481"/>
                <a:gd name="csX22" fmla="*/ 846162 w 846646"/>
                <a:gd name="csY22" fmla="*/ 511274 h 1018481"/>
                <a:gd name="csX23" fmla="*/ 841400 w 846646"/>
                <a:gd name="csY23" fmla="*/ 647006 h 1018481"/>
                <a:gd name="csX24" fmla="*/ 815206 w 846646"/>
                <a:gd name="csY24" fmla="*/ 763687 h 1018481"/>
                <a:gd name="csX25" fmla="*/ 762819 w 846646"/>
                <a:gd name="csY25" fmla="*/ 866081 h 1018481"/>
                <a:gd name="csX26" fmla="*/ 703287 w 846646"/>
                <a:gd name="csY26" fmla="*/ 942281 h 1018481"/>
                <a:gd name="csX27" fmla="*/ 641374 w 846646"/>
                <a:gd name="csY27" fmla="*/ 1018481 h 10184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846646" h="1018481">
                  <a:moveTo>
                    <a:pt x="227037" y="1016099"/>
                  </a:moveTo>
                  <a:cubicBezTo>
                    <a:pt x="206003" y="1001613"/>
                    <a:pt x="184969" y="987127"/>
                    <a:pt x="165125" y="968474"/>
                  </a:cubicBezTo>
                  <a:cubicBezTo>
                    <a:pt x="145281" y="949821"/>
                    <a:pt x="123056" y="923628"/>
                    <a:pt x="107975" y="904181"/>
                  </a:cubicBezTo>
                  <a:cubicBezTo>
                    <a:pt x="92894" y="884734"/>
                    <a:pt x="86543" y="874018"/>
                    <a:pt x="74637" y="851793"/>
                  </a:cubicBezTo>
                  <a:cubicBezTo>
                    <a:pt x="62731" y="829568"/>
                    <a:pt x="47252" y="801390"/>
                    <a:pt x="36537" y="770831"/>
                  </a:cubicBezTo>
                  <a:cubicBezTo>
                    <a:pt x="25822" y="740272"/>
                    <a:pt x="16297" y="700981"/>
                    <a:pt x="10344" y="668437"/>
                  </a:cubicBezTo>
                  <a:cubicBezTo>
                    <a:pt x="4391" y="635893"/>
                    <a:pt x="2010" y="605730"/>
                    <a:pt x="819" y="575568"/>
                  </a:cubicBezTo>
                  <a:cubicBezTo>
                    <a:pt x="-372" y="545406"/>
                    <a:pt x="-769" y="521593"/>
                    <a:pt x="3200" y="487462"/>
                  </a:cubicBezTo>
                  <a:cubicBezTo>
                    <a:pt x="7169" y="453331"/>
                    <a:pt x="15106" y="406500"/>
                    <a:pt x="24631" y="370781"/>
                  </a:cubicBezTo>
                  <a:cubicBezTo>
                    <a:pt x="34156" y="335062"/>
                    <a:pt x="46063" y="303708"/>
                    <a:pt x="60350" y="273149"/>
                  </a:cubicBezTo>
                  <a:cubicBezTo>
                    <a:pt x="74637" y="242590"/>
                    <a:pt x="90909" y="215205"/>
                    <a:pt x="110356" y="187424"/>
                  </a:cubicBezTo>
                  <a:cubicBezTo>
                    <a:pt x="129803" y="159643"/>
                    <a:pt x="150837" y="131068"/>
                    <a:pt x="177031" y="106462"/>
                  </a:cubicBezTo>
                  <a:cubicBezTo>
                    <a:pt x="203225" y="81856"/>
                    <a:pt x="243310" y="54471"/>
                    <a:pt x="267519" y="39787"/>
                  </a:cubicBezTo>
                  <a:cubicBezTo>
                    <a:pt x="291728" y="25103"/>
                    <a:pt x="301253" y="24706"/>
                    <a:pt x="322287" y="18356"/>
                  </a:cubicBezTo>
                  <a:cubicBezTo>
                    <a:pt x="343321" y="12006"/>
                    <a:pt x="366738" y="4068"/>
                    <a:pt x="393725" y="1687"/>
                  </a:cubicBezTo>
                  <a:cubicBezTo>
                    <a:pt x="420713" y="-694"/>
                    <a:pt x="453256" y="-1091"/>
                    <a:pt x="484212" y="4068"/>
                  </a:cubicBezTo>
                  <a:cubicBezTo>
                    <a:pt x="515168" y="9227"/>
                    <a:pt x="552475" y="21134"/>
                    <a:pt x="579462" y="32643"/>
                  </a:cubicBezTo>
                  <a:cubicBezTo>
                    <a:pt x="606450" y="44152"/>
                    <a:pt x="624706" y="56852"/>
                    <a:pt x="646137" y="73124"/>
                  </a:cubicBezTo>
                  <a:cubicBezTo>
                    <a:pt x="667568" y="89396"/>
                    <a:pt x="689397" y="109637"/>
                    <a:pt x="708050" y="130274"/>
                  </a:cubicBezTo>
                  <a:cubicBezTo>
                    <a:pt x="726703" y="150911"/>
                    <a:pt x="740197" y="165993"/>
                    <a:pt x="758056" y="196949"/>
                  </a:cubicBezTo>
                  <a:cubicBezTo>
                    <a:pt x="775915" y="227905"/>
                    <a:pt x="802506" y="282277"/>
                    <a:pt x="815206" y="316012"/>
                  </a:cubicBezTo>
                  <a:cubicBezTo>
                    <a:pt x="827906" y="349746"/>
                    <a:pt x="829097" y="366812"/>
                    <a:pt x="834256" y="399356"/>
                  </a:cubicBezTo>
                  <a:cubicBezTo>
                    <a:pt x="839415" y="431900"/>
                    <a:pt x="844971" y="469999"/>
                    <a:pt x="846162" y="511274"/>
                  </a:cubicBezTo>
                  <a:cubicBezTo>
                    <a:pt x="847353" y="552549"/>
                    <a:pt x="846559" y="604937"/>
                    <a:pt x="841400" y="647006"/>
                  </a:cubicBezTo>
                  <a:cubicBezTo>
                    <a:pt x="836241" y="689075"/>
                    <a:pt x="828303" y="727175"/>
                    <a:pt x="815206" y="763687"/>
                  </a:cubicBezTo>
                  <a:cubicBezTo>
                    <a:pt x="802109" y="800199"/>
                    <a:pt x="781472" y="836315"/>
                    <a:pt x="762819" y="866081"/>
                  </a:cubicBezTo>
                  <a:cubicBezTo>
                    <a:pt x="744166" y="895847"/>
                    <a:pt x="721543" y="920850"/>
                    <a:pt x="703287" y="942281"/>
                  </a:cubicBezTo>
                  <a:cubicBezTo>
                    <a:pt x="685031" y="963712"/>
                    <a:pt x="657249" y="1003003"/>
                    <a:pt x="641374" y="1018481"/>
                  </a:cubicBezTo>
                </a:path>
              </a:pathLst>
            </a:custGeom>
            <a:no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4000" b="0" i="0" u="none" strike="noStrike" cap="none" normalizeH="0" baseline="0">
                <a:ln>
                  <a:noFill/>
                </a:ln>
                <a:solidFill>
                  <a:schemeClr val="tx1"/>
                </a:solidFill>
                <a:effectLst/>
                <a:latin typeface="Arial" charset="0"/>
              </a:endParaRPr>
            </a:p>
          </p:txBody>
        </p:sp>
        <p:sp>
          <p:nvSpPr>
            <p:cNvPr id="41" name="Freeform: Shape 40">
              <a:extLst>
                <a:ext uri="{FF2B5EF4-FFF2-40B4-BE49-F238E27FC236}">
                  <a16:creationId xmlns:a16="http://schemas.microsoft.com/office/drawing/2014/main" id="{83461E41-FC28-CE31-D9FD-DED112B693A9}"/>
                </a:ext>
              </a:extLst>
            </p:cNvPr>
            <p:cNvSpPr/>
            <p:nvPr/>
          </p:nvSpPr>
          <p:spPr bwMode="auto">
            <a:xfrm>
              <a:off x="7181848" y="792071"/>
              <a:ext cx="846646" cy="1018481"/>
            </a:xfrm>
            <a:custGeom>
              <a:avLst/>
              <a:gdLst>
                <a:gd name="csX0" fmla="*/ 227037 w 846646"/>
                <a:gd name="csY0" fmla="*/ 1016099 h 1016099"/>
                <a:gd name="csX1" fmla="*/ 165125 w 846646"/>
                <a:gd name="csY1" fmla="*/ 968474 h 1016099"/>
                <a:gd name="csX2" fmla="*/ 107975 w 846646"/>
                <a:gd name="csY2" fmla="*/ 904181 h 1016099"/>
                <a:gd name="csX3" fmla="*/ 74637 w 846646"/>
                <a:gd name="csY3" fmla="*/ 851793 h 1016099"/>
                <a:gd name="csX4" fmla="*/ 36537 w 846646"/>
                <a:gd name="csY4" fmla="*/ 770831 h 1016099"/>
                <a:gd name="csX5" fmla="*/ 10344 w 846646"/>
                <a:gd name="csY5" fmla="*/ 668437 h 1016099"/>
                <a:gd name="csX6" fmla="*/ 819 w 846646"/>
                <a:gd name="csY6" fmla="*/ 575568 h 1016099"/>
                <a:gd name="csX7" fmla="*/ 3200 w 846646"/>
                <a:gd name="csY7" fmla="*/ 487462 h 1016099"/>
                <a:gd name="csX8" fmla="*/ 24631 w 846646"/>
                <a:gd name="csY8" fmla="*/ 370781 h 1016099"/>
                <a:gd name="csX9" fmla="*/ 60350 w 846646"/>
                <a:gd name="csY9" fmla="*/ 273149 h 1016099"/>
                <a:gd name="csX10" fmla="*/ 110356 w 846646"/>
                <a:gd name="csY10" fmla="*/ 187424 h 1016099"/>
                <a:gd name="csX11" fmla="*/ 177031 w 846646"/>
                <a:gd name="csY11" fmla="*/ 106462 h 1016099"/>
                <a:gd name="csX12" fmla="*/ 267519 w 846646"/>
                <a:gd name="csY12" fmla="*/ 39787 h 1016099"/>
                <a:gd name="csX13" fmla="*/ 322287 w 846646"/>
                <a:gd name="csY13" fmla="*/ 18356 h 1016099"/>
                <a:gd name="csX14" fmla="*/ 393725 w 846646"/>
                <a:gd name="csY14" fmla="*/ 1687 h 1016099"/>
                <a:gd name="csX15" fmla="*/ 484212 w 846646"/>
                <a:gd name="csY15" fmla="*/ 4068 h 1016099"/>
                <a:gd name="csX16" fmla="*/ 579462 w 846646"/>
                <a:gd name="csY16" fmla="*/ 32643 h 1016099"/>
                <a:gd name="csX17" fmla="*/ 646137 w 846646"/>
                <a:gd name="csY17" fmla="*/ 73124 h 1016099"/>
                <a:gd name="csX18" fmla="*/ 708050 w 846646"/>
                <a:gd name="csY18" fmla="*/ 130274 h 1016099"/>
                <a:gd name="csX19" fmla="*/ 758056 w 846646"/>
                <a:gd name="csY19" fmla="*/ 196949 h 1016099"/>
                <a:gd name="csX20" fmla="*/ 815206 w 846646"/>
                <a:gd name="csY20" fmla="*/ 316012 h 1016099"/>
                <a:gd name="csX21" fmla="*/ 834256 w 846646"/>
                <a:gd name="csY21" fmla="*/ 399356 h 1016099"/>
                <a:gd name="csX22" fmla="*/ 846162 w 846646"/>
                <a:gd name="csY22" fmla="*/ 511274 h 1016099"/>
                <a:gd name="csX23" fmla="*/ 841400 w 846646"/>
                <a:gd name="csY23" fmla="*/ 647006 h 1016099"/>
                <a:gd name="csX24" fmla="*/ 815206 w 846646"/>
                <a:gd name="csY24" fmla="*/ 763687 h 1016099"/>
                <a:gd name="csX25" fmla="*/ 762819 w 846646"/>
                <a:gd name="csY25" fmla="*/ 866081 h 1016099"/>
                <a:gd name="csX26" fmla="*/ 703287 w 846646"/>
                <a:gd name="csY26" fmla="*/ 942281 h 1016099"/>
                <a:gd name="csX27" fmla="*/ 653281 w 846646"/>
                <a:gd name="csY27" fmla="*/ 994668 h 1016099"/>
                <a:gd name="csX0" fmla="*/ 227037 w 846646"/>
                <a:gd name="csY0" fmla="*/ 1016099 h 1018481"/>
                <a:gd name="csX1" fmla="*/ 165125 w 846646"/>
                <a:gd name="csY1" fmla="*/ 968474 h 1018481"/>
                <a:gd name="csX2" fmla="*/ 107975 w 846646"/>
                <a:gd name="csY2" fmla="*/ 904181 h 1018481"/>
                <a:gd name="csX3" fmla="*/ 74637 w 846646"/>
                <a:gd name="csY3" fmla="*/ 851793 h 1018481"/>
                <a:gd name="csX4" fmla="*/ 36537 w 846646"/>
                <a:gd name="csY4" fmla="*/ 770831 h 1018481"/>
                <a:gd name="csX5" fmla="*/ 10344 w 846646"/>
                <a:gd name="csY5" fmla="*/ 668437 h 1018481"/>
                <a:gd name="csX6" fmla="*/ 819 w 846646"/>
                <a:gd name="csY6" fmla="*/ 575568 h 1018481"/>
                <a:gd name="csX7" fmla="*/ 3200 w 846646"/>
                <a:gd name="csY7" fmla="*/ 487462 h 1018481"/>
                <a:gd name="csX8" fmla="*/ 24631 w 846646"/>
                <a:gd name="csY8" fmla="*/ 370781 h 1018481"/>
                <a:gd name="csX9" fmla="*/ 60350 w 846646"/>
                <a:gd name="csY9" fmla="*/ 273149 h 1018481"/>
                <a:gd name="csX10" fmla="*/ 110356 w 846646"/>
                <a:gd name="csY10" fmla="*/ 187424 h 1018481"/>
                <a:gd name="csX11" fmla="*/ 177031 w 846646"/>
                <a:gd name="csY11" fmla="*/ 106462 h 1018481"/>
                <a:gd name="csX12" fmla="*/ 267519 w 846646"/>
                <a:gd name="csY12" fmla="*/ 39787 h 1018481"/>
                <a:gd name="csX13" fmla="*/ 322287 w 846646"/>
                <a:gd name="csY13" fmla="*/ 18356 h 1018481"/>
                <a:gd name="csX14" fmla="*/ 393725 w 846646"/>
                <a:gd name="csY14" fmla="*/ 1687 h 1018481"/>
                <a:gd name="csX15" fmla="*/ 484212 w 846646"/>
                <a:gd name="csY15" fmla="*/ 4068 h 1018481"/>
                <a:gd name="csX16" fmla="*/ 579462 w 846646"/>
                <a:gd name="csY16" fmla="*/ 32643 h 1018481"/>
                <a:gd name="csX17" fmla="*/ 646137 w 846646"/>
                <a:gd name="csY17" fmla="*/ 73124 h 1018481"/>
                <a:gd name="csX18" fmla="*/ 708050 w 846646"/>
                <a:gd name="csY18" fmla="*/ 130274 h 1018481"/>
                <a:gd name="csX19" fmla="*/ 758056 w 846646"/>
                <a:gd name="csY19" fmla="*/ 196949 h 1018481"/>
                <a:gd name="csX20" fmla="*/ 815206 w 846646"/>
                <a:gd name="csY20" fmla="*/ 316012 h 1018481"/>
                <a:gd name="csX21" fmla="*/ 834256 w 846646"/>
                <a:gd name="csY21" fmla="*/ 399356 h 1018481"/>
                <a:gd name="csX22" fmla="*/ 846162 w 846646"/>
                <a:gd name="csY22" fmla="*/ 511274 h 1018481"/>
                <a:gd name="csX23" fmla="*/ 841400 w 846646"/>
                <a:gd name="csY23" fmla="*/ 647006 h 1018481"/>
                <a:gd name="csX24" fmla="*/ 815206 w 846646"/>
                <a:gd name="csY24" fmla="*/ 763687 h 1018481"/>
                <a:gd name="csX25" fmla="*/ 762819 w 846646"/>
                <a:gd name="csY25" fmla="*/ 866081 h 1018481"/>
                <a:gd name="csX26" fmla="*/ 703287 w 846646"/>
                <a:gd name="csY26" fmla="*/ 942281 h 1018481"/>
                <a:gd name="csX27" fmla="*/ 641374 w 846646"/>
                <a:gd name="csY27" fmla="*/ 1018481 h 10184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846646" h="1018481">
                  <a:moveTo>
                    <a:pt x="227037" y="1016099"/>
                  </a:moveTo>
                  <a:cubicBezTo>
                    <a:pt x="206003" y="1001613"/>
                    <a:pt x="184969" y="987127"/>
                    <a:pt x="165125" y="968474"/>
                  </a:cubicBezTo>
                  <a:cubicBezTo>
                    <a:pt x="145281" y="949821"/>
                    <a:pt x="123056" y="923628"/>
                    <a:pt x="107975" y="904181"/>
                  </a:cubicBezTo>
                  <a:cubicBezTo>
                    <a:pt x="92894" y="884734"/>
                    <a:pt x="86543" y="874018"/>
                    <a:pt x="74637" y="851793"/>
                  </a:cubicBezTo>
                  <a:cubicBezTo>
                    <a:pt x="62731" y="829568"/>
                    <a:pt x="47252" y="801390"/>
                    <a:pt x="36537" y="770831"/>
                  </a:cubicBezTo>
                  <a:cubicBezTo>
                    <a:pt x="25822" y="740272"/>
                    <a:pt x="16297" y="700981"/>
                    <a:pt x="10344" y="668437"/>
                  </a:cubicBezTo>
                  <a:cubicBezTo>
                    <a:pt x="4391" y="635893"/>
                    <a:pt x="2010" y="605730"/>
                    <a:pt x="819" y="575568"/>
                  </a:cubicBezTo>
                  <a:cubicBezTo>
                    <a:pt x="-372" y="545406"/>
                    <a:pt x="-769" y="521593"/>
                    <a:pt x="3200" y="487462"/>
                  </a:cubicBezTo>
                  <a:cubicBezTo>
                    <a:pt x="7169" y="453331"/>
                    <a:pt x="15106" y="406500"/>
                    <a:pt x="24631" y="370781"/>
                  </a:cubicBezTo>
                  <a:cubicBezTo>
                    <a:pt x="34156" y="335062"/>
                    <a:pt x="46063" y="303708"/>
                    <a:pt x="60350" y="273149"/>
                  </a:cubicBezTo>
                  <a:cubicBezTo>
                    <a:pt x="74637" y="242590"/>
                    <a:pt x="90909" y="215205"/>
                    <a:pt x="110356" y="187424"/>
                  </a:cubicBezTo>
                  <a:cubicBezTo>
                    <a:pt x="129803" y="159643"/>
                    <a:pt x="150837" y="131068"/>
                    <a:pt x="177031" y="106462"/>
                  </a:cubicBezTo>
                  <a:cubicBezTo>
                    <a:pt x="203225" y="81856"/>
                    <a:pt x="243310" y="54471"/>
                    <a:pt x="267519" y="39787"/>
                  </a:cubicBezTo>
                  <a:cubicBezTo>
                    <a:pt x="291728" y="25103"/>
                    <a:pt x="301253" y="24706"/>
                    <a:pt x="322287" y="18356"/>
                  </a:cubicBezTo>
                  <a:cubicBezTo>
                    <a:pt x="343321" y="12006"/>
                    <a:pt x="366738" y="4068"/>
                    <a:pt x="393725" y="1687"/>
                  </a:cubicBezTo>
                  <a:cubicBezTo>
                    <a:pt x="420713" y="-694"/>
                    <a:pt x="453256" y="-1091"/>
                    <a:pt x="484212" y="4068"/>
                  </a:cubicBezTo>
                  <a:cubicBezTo>
                    <a:pt x="515168" y="9227"/>
                    <a:pt x="552475" y="21134"/>
                    <a:pt x="579462" y="32643"/>
                  </a:cubicBezTo>
                  <a:cubicBezTo>
                    <a:pt x="606450" y="44152"/>
                    <a:pt x="624706" y="56852"/>
                    <a:pt x="646137" y="73124"/>
                  </a:cubicBezTo>
                  <a:cubicBezTo>
                    <a:pt x="667568" y="89396"/>
                    <a:pt x="689397" y="109637"/>
                    <a:pt x="708050" y="130274"/>
                  </a:cubicBezTo>
                  <a:cubicBezTo>
                    <a:pt x="726703" y="150911"/>
                    <a:pt x="740197" y="165993"/>
                    <a:pt x="758056" y="196949"/>
                  </a:cubicBezTo>
                  <a:cubicBezTo>
                    <a:pt x="775915" y="227905"/>
                    <a:pt x="802506" y="282277"/>
                    <a:pt x="815206" y="316012"/>
                  </a:cubicBezTo>
                  <a:cubicBezTo>
                    <a:pt x="827906" y="349746"/>
                    <a:pt x="829097" y="366812"/>
                    <a:pt x="834256" y="399356"/>
                  </a:cubicBezTo>
                  <a:cubicBezTo>
                    <a:pt x="839415" y="431900"/>
                    <a:pt x="844971" y="469999"/>
                    <a:pt x="846162" y="511274"/>
                  </a:cubicBezTo>
                  <a:cubicBezTo>
                    <a:pt x="847353" y="552549"/>
                    <a:pt x="846559" y="604937"/>
                    <a:pt x="841400" y="647006"/>
                  </a:cubicBezTo>
                  <a:cubicBezTo>
                    <a:pt x="836241" y="689075"/>
                    <a:pt x="828303" y="727175"/>
                    <a:pt x="815206" y="763687"/>
                  </a:cubicBezTo>
                  <a:cubicBezTo>
                    <a:pt x="802109" y="800199"/>
                    <a:pt x="781472" y="836315"/>
                    <a:pt x="762819" y="866081"/>
                  </a:cubicBezTo>
                  <a:cubicBezTo>
                    <a:pt x="744166" y="895847"/>
                    <a:pt x="721543" y="920850"/>
                    <a:pt x="703287" y="942281"/>
                  </a:cubicBezTo>
                  <a:cubicBezTo>
                    <a:pt x="685031" y="963712"/>
                    <a:pt x="657249" y="1003003"/>
                    <a:pt x="641374" y="1018481"/>
                  </a:cubicBezTo>
                </a:path>
              </a:pathLst>
            </a:custGeom>
            <a:no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4000" b="0" i="0" u="none" strike="noStrike" cap="none" normalizeH="0" baseline="0">
                <a:ln>
                  <a:noFill/>
                </a:ln>
                <a:solidFill>
                  <a:schemeClr val="tx1"/>
                </a:solidFill>
                <a:effectLst/>
                <a:latin typeface="Arial" charset="0"/>
              </a:endParaRPr>
            </a:p>
          </p:txBody>
        </p:sp>
      </p:grpSp>
      <p:sp>
        <p:nvSpPr>
          <p:cNvPr id="3" name="TextBox 2">
            <a:extLst>
              <a:ext uri="{FF2B5EF4-FFF2-40B4-BE49-F238E27FC236}">
                <a16:creationId xmlns:a16="http://schemas.microsoft.com/office/drawing/2014/main" id="{D7B87D27-1E7E-091F-5B68-A2EB88A78EE4}"/>
              </a:ext>
            </a:extLst>
          </p:cNvPr>
          <p:cNvSpPr txBox="1"/>
          <p:nvPr/>
        </p:nvSpPr>
        <p:spPr>
          <a:xfrm>
            <a:off x="1635703" y="3159134"/>
            <a:ext cx="8920594" cy="1323439"/>
          </a:xfrm>
          <a:prstGeom prst="rect">
            <a:avLst/>
          </a:prstGeom>
          <a:noFill/>
        </p:spPr>
        <p:txBody>
          <a:bodyPr wrap="square">
            <a:spAutoFit/>
          </a:bodyPr>
          <a:lstStyle/>
          <a:p>
            <a:r>
              <a:rPr lang="en-US" dirty="0">
                <a:solidFill>
                  <a:srgbClr val="FFFF99"/>
                </a:solidFill>
              </a:rPr>
              <a:t>Introduction: Stability, Stewardship, and the Future of MODFLOW 6</a:t>
            </a:r>
          </a:p>
        </p:txBody>
      </p:sp>
    </p:spTree>
    <p:extLst>
      <p:ext uri="{BB962C8B-B14F-4D97-AF65-F5344CB8AC3E}">
        <p14:creationId xmlns:p14="http://schemas.microsoft.com/office/powerpoint/2010/main" val="37792670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FED9B-7FB5-AEDA-F518-17B98EE298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0408C2-095A-B659-6E7C-71F5648F0A64}"/>
              </a:ext>
            </a:extLst>
          </p:cNvPr>
          <p:cNvSpPr>
            <a:spLocks noGrp="1"/>
          </p:cNvSpPr>
          <p:nvPr>
            <p:ph type="title"/>
          </p:nvPr>
        </p:nvSpPr>
        <p:spPr>
          <a:xfrm>
            <a:off x="508000" y="304800"/>
            <a:ext cx="8305800" cy="533400"/>
          </a:xfrm>
        </p:spPr>
        <p:txBody>
          <a:bodyPr/>
          <a:lstStyle/>
          <a:p>
            <a:r>
              <a:rPr lang="en-US"/>
              <a:t>MODFLOW 6 Governance</a:t>
            </a:r>
          </a:p>
        </p:txBody>
      </p:sp>
      <p:sp>
        <p:nvSpPr>
          <p:cNvPr id="4" name="Content Placeholder 3">
            <a:extLst>
              <a:ext uri="{FF2B5EF4-FFF2-40B4-BE49-F238E27FC236}">
                <a16:creationId xmlns:a16="http://schemas.microsoft.com/office/drawing/2014/main" id="{94FC4BD4-605A-8ADB-294C-BA56C46F9A16}"/>
              </a:ext>
            </a:extLst>
          </p:cNvPr>
          <p:cNvSpPr>
            <a:spLocks noGrp="1"/>
          </p:cNvSpPr>
          <p:nvPr>
            <p:ph idx="1"/>
          </p:nvPr>
        </p:nvSpPr>
        <p:spPr/>
        <p:txBody>
          <a:bodyPr/>
          <a:lstStyle/>
          <a:p>
            <a:r>
              <a:rPr lang="en-US" dirty="0">
                <a:cs typeface="Arial"/>
              </a:rPr>
              <a:t>Some hallmarks of MODFLOW have been </a:t>
            </a:r>
          </a:p>
          <a:p>
            <a:pPr marL="0" indent="0">
              <a:buNone/>
            </a:pPr>
            <a:r>
              <a:rPr lang="en-US" dirty="0">
                <a:cs typeface="Arial"/>
              </a:rPr>
              <a:t>	scientific rigor</a:t>
            </a:r>
          </a:p>
          <a:p>
            <a:pPr marL="0" indent="0">
              <a:buNone/>
            </a:pPr>
            <a:r>
              <a:rPr lang="en-US" dirty="0">
                <a:cs typeface="Arial"/>
              </a:rPr>
              <a:t>		steady support </a:t>
            </a:r>
          </a:p>
          <a:p>
            <a:pPr marL="0" indent="0">
              <a:buNone/>
            </a:pPr>
            <a:r>
              <a:rPr lang="en-US" dirty="0">
                <a:cs typeface="Arial"/>
              </a:rPr>
              <a:t>			transparency</a:t>
            </a:r>
          </a:p>
          <a:p>
            <a:pPr marL="0" indent="0">
              <a:buNone/>
            </a:pPr>
            <a:r>
              <a:rPr lang="en-US" dirty="0">
                <a:cs typeface="Arial"/>
              </a:rPr>
              <a:t>				teachability</a:t>
            </a:r>
          </a:p>
          <a:p>
            <a:pPr marL="0" indent="0">
              <a:buNone/>
            </a:pPr>
            <a:r>
              <a:rPr lang="en-US" dirty="0">
                <a:cs typeface="Arial"/>
              </a:rPr>
              <a:t>					flexibility</a:t>
            </a:r>
          </a:p>
        </p:txBody>
      </p:sp>
    </p:spTree>
    <p:extLst>
      <p:ext uri="{BB962C8B-B14F-4D97-AF65-F5344CB8AC3E}">
        <p14:creationId xmlns:p14="http://schemas.microsoft.com/office/powerpoint/2010/main" val="40983849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A9662-F110-1E69-2B59-741B84E87D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575EB1-0EBE-3BF9-60C1-A91AA430D2E9}"/>
              </a:ext>
            </a:extLst>
          </p:cNvPr>
          <p:cNvSpPr>
            <a:spLocks noGrp="1"/>
          </p:cNvSpPr>
          <p:nvPr>
            <p:ph type="title"/>
          </p:nvPr>
        </p:nvSpPr>
        <p:spPr>
          <a:xfrm>
            <a:off x="508000" y="304800"/>
            <a:ext cx="8305800" cy="533400"/>
          </a:xfrm>
        </p:spPr>
        <p:txBody>
          <a:bodyPr/>
          <a:lstStyle/>
          <a:p>
            <a:r>
              <a:rPr lang="en-US"/>
              <a:t>MODFLOW 6 Governance</a:t>
            </a:r>
          </a:p>
        </p:txBody>
      </p:sp>
      <p:sp>
        <p:nvSpPr>
          <p:cNvPr id="4" name="Content Placeholder 3">
            <a:extLst>
              <a:ext uri="{FF2B5EF4-FFF2-40B4-BE49-F238E27FC236}">
                <a16:creationId xmlns:a16="http://schemas.microsoft.com/office/drawing/2014/main" id="{FAD6C267-0597-E5E7-C7E8-4FF458AF2DD4}"/>
              </a:ext>
            </a:extLst>
          </p:cNvPr>
          <p:cNvSpPr>
            <a:spLocks noGrp="1"/>
          </p:cNvSpPr>
          <p:nvPr>
            <p:ph idx="1"/>
          </p:nvPr>
        </p:nvSpPr>
        <p:spPr>
          <a:xfrm>
            <a:off x="508000" y="1371600"/>
            <a:ext cx="11684000" cy="4495800"/>
          </a:xfrm>
        </p:spPr>
        <p:txBody>
          <a:bodyPr/>
          <a:lstStyle/>
          <a:p>
            <a:r>
              <a:rPr lang="en-US" dirty="0">
                <a:cs typeface="Arial"/>
              </a:rPr>
              <a:t>Since its inception, MODFLOW has been a USGS-led project...</a:t>
            </a:r>
          </a:p>
          <a:p>
            <a:pPr marL="0" indent="0">
              <a:buNone/>
            </a:pPr>
            <a:r>
              <a:rPr lang="en-US" dirty="0">
                <a:cs typeface="Arial"/>
              </a:rPr>
              <a:t>			...but it has also been open-source.</a:t>
            </a:r>
          </a:p>
          <a:p>
            <a:pPr marL="0" indent="0">
              <a:buNone/>
            </a:pPr>
            <a:endParaRPr lang="en-US" dirty="0">
              <a:cs typeface="Arial"/>
            </a:endParaRPr>
          </a:p>
          <a:p>
            <a:r>
              <a:rPr lang="en-US" dirty="0">
                <a:cs typeface="Arial"/>
              </a:rPr>
              <a:t>With developers leaving USGS last year, there was </a:t>
            </a:r>
            <a:r>
              <a:rPr lang="en-US" i="1" dirty="0">
                <a:cs typeface="Arial"/>
              </a:rPr>
              <a:t>disruption</a:t>
            </a:r>
            <a:r>
              <a:rPr lang="en-US" dirty="0">
                <a:cs typeface="Arial"/>
              </a:rPr>
              <a:t> but also </a:t>
            </a:r>
            <a:r>
              <a:rPr lang="en-US" i="1" dirty="0">
                <a:cs typeface="Arial"/>
              </a:rPr>
              <a:t>opportunity</a:t>
            </a:r>
            <a:r>
              <a:rPr lang="en-US" dirty="0">
                <a:cs typeface="Arial"/>
              </a:rPr>
              <a:t> to codify the open-source goals and broaden the community</a:t>
            </a:r>
          </a:p>
          <a:p>
            <a:endParaRPr lang="en-US" dirty="0">
              <a:cs typeface="Arial"/>
            </a:endParaRPr>
          </a:p>
          <a:p>
            <a:r>
              <a:rPr lang="en-US" dirty="0">
                <a:cs typeface="Arial"/>
              </a:rPr>
              <a:t>Enter the new MODFLOW Charter</a:t>
            </a:r>
          </a:p>
        </p:txBody>
      </p:sp>
    </p:spTree>
    <p:extLst>
      <p:ext uri="{BB962C8B-B14F-4D97-AF65-F5344CB8AC3E}">
        <p14:creationId xmlns:p14="http://schemas.microsoft.com/office/powerpoint/2010/main" val="2672138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17760-F250-61D6-9E98-43B7AF40BFA5}"/>
              </a:ext>
            </a:extLst>
          </p:cNvPr>
          <p:cNvSpPr>
            <a:spLocks noGrp="1"/>
          </p:cNvSpPr>
          <p:nvPr>
            <p:ph type="title"/>
          </p:nvPr>
        </p:nvSpPr>
        <p:spPr/>
        <p:txBody>
          <a:bodyPr/>
          <a:lstStyle/>
          <a:p>
            <a:r>
              <a:rPr lang="en-US"/>
              <a:t>MODFLOW 6 Charter</a:t>
            </a:r>
          </a:p>
        </p:txBody>
      </p:sp>
      <p:sp>
        <p:nvSpPr>
          <p:cNvPr id="3" name="Content Placeholder 2">
            <a:extLst>
              <a:ext uri="{FF2B5EF4-FFF2-40B4-BE49-F238E27FC236}">
                <a16:creationId xmlns:a16="http://schemas.microsoft.com/office/drawing/2014/main" id="{54A25DCB-AE5F-4F70-A106-F91AC759F78A}"/>
              </a:ext>
            </a:extLst>
          </p:cNvPr>
          <p:cNvSpPr>
            <a:spLocks noGrp="1"/>
          </p:cNvSpPr>
          <p:nvPr>
            <p:ph idx="1"/>
          </p:nvPr>
        </p:nvSpPr>
        <p:spPr>
          <a:xfrm>
            <a:off x="508000" y="1192397"/>
            <a:ext cx="11074400" cy="553694"/>
          </a:xfrm>
        </p:spPr>
        <p:txBody>
          <a:bodyPr/>
          <a:lstStyle/>
          <a:p>
            <a:pPr marL="0" indent="0">
              <a:buNone/>
            </a:pPr>
            <a:r>
              <a:rPr lang="en-US" sz="1800" dirty="0">
                <a:hlinkClick r:id="rId2">
                  <a:extLst>
                    <a:ext uri="{A12FA001-AC4F-418D-AE19-62706E023703}">
                      <ahyp:hlinkClr xmlns:ahyp="http://schemas.microsoft.com/office/drawing/2018/hyperlinkcolor" val="tx"/>
                    </a:ext>
                  </a:extLst>
                </a:hlinkClick>
              </a:rPr>
              <a:t>https://github.com/MODFLOW-ORG/modflow6/wiki/MODFLOW-Governance-Charter</a:t>
            </a:r>
            <a:endParaRPr lang="en-US" sz="1800" dirty="0"/>
          </a:p>
        </p:txBody>
      </p:sp>
      <p:pic>
        <p:nvPicPr>
          <p:cNvPr id="4" name="Picture 3">
            <a:extLst>
              <a:ext uri="{FF2B5EF4-FFF2-40B4-BE49-F238E27FC236}">
                <a16:creationId xmlns:a16="http://schemas.microsoft.com/office/drawing/2014/main" id="{F2497D17-8E6B-99B8-1AC5-52DAF22A2748}"/>
              </a:ext>
            </a:extLst>
          </p:cNvPr>
          <p:cNvPicPr>
            <a:picLocks noChangeAspect="1"/>
          </p:cNvPicPr>
          <p:nvPr/>
        </p:nvPicPr>
        <p:blipFill>
          <a:blip r:embed="rId3"/>
          <a:stretch>
            <a:fillRect/>
          </a:stretch>
        </p:blipFill>
        <p:spPr>
          <a:xfrm>
            <a:off x="2410617" y="1834665"/>
            <a:ext cx="6512824" cy="4870935"/>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0009100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78A2F-AF43-40DA-256D-43C8E0705E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07C77A-0E1B-5B92-823A-8DB0FBAB6036}"/>
              </a:ext>
            </a:extLst>
          </p:cNvPr>
          <p:cNvSpPr>
            <a:spLocks noGrp="1"/>
          </p:cNvSpPr>
          <p:nvPr>
            <p:ph type="title"/>
          </p:nvPr>
        </p:nvSpPr>
        <p:spPr>
          <a:xfrm>
            <a:off x="508000" y="304800"/>
            <a:ext cx="8305800" cy="533400"/>
          </a:xfrm>
        </p:spPr>
        <p:txBody>
          <a:bodyPr/>
          <a:lstStyle/>
          <a:p>
            <a:r>
              <a:rPr lang="en-US"/>
              <a:t>MODFLOW 6 Governance</a:t>
            </a:r>
          </a:p>
        </p:txBody>
      </p:sp>
      <p:sp>
        <p:nvSpPr>
          <p:cNvPr id="4" name="Content Placeholder 3">
            <a:extLst>
              <a:ext uri="{FF2B5EF4-FFF2-40B4-BE49-F238E27FC236}">
                <a16:creationId xmlns:a16="http://schemas.microsoft.com/office/drawing/2014/main" id="{85ADE5E5-4BD5-0D89-0497-C501BC45F17F}"/>
              </a:ext>
            </a:extLst>
          </p:cNvPr>
          <p:cNvSpPr>
            <a:spLocks noGrp="1"/>
          </p:cNvSpPr>
          <p:nvPr>
            <p:ph idx="1"/>
          </p:nvPr>
        </p:nvSpPr>
        <p:spPr>
          <a:xfrm>
            <a:off x="507999" y="1371600"/>
            <a:ext cx="11431451" cy="4495800"/>
          </a:xfrm>
        </p:spPr>
        <p:txBody>
          <a:bodyPr/>
          <a:lstStyle/>
          <a:p>
            <a:r>
              <a:rPr lang="en-US" sz="3200" dirty="0">
                <a:cs typeface="Arial"/>
              </a:rPr>
              <a:t>Key attributes</a:t>
            </a:r>
          </a:p>
          <a:p>
            <a:pPr lvl="1"/>
            <a:r>
              <a:rPr lang="en-US" sz="2800" dirty="0">
                <a:cs typeface="Arial"/>
              </a:rPr>
              <a:t>Modeled on other open-source, multi-group projects (like Linux, </a:t>
            </a:r>
            <a:r>
              <a:rPr lang="en-US" sz="2800" dirty="0" err="1">
                <a:cs typeface="Arial"/>
              </a:rPr>
              <a:t>Appvisor</a:t>
            </a:r>
            <a:r>
              <a:rPr lang="en-US" sz="2800" dirty="0">
                <a:cs typeface="Arial"/>
              </a:rPr>
              <a:t>, etc.)</a:t>
            </a:r>
          </a:p>
          <a:p>
            <a:pPr lvl="1"/>
            <a:r>
              <a:rPr lang="en-US" sz="2800" dirty="0">
                <a:cs typeface="Arial"/>
              </a:rPr>
              <a:t>Establishes a Technical Steering Committee (why bother?)</a:t>
            </a:r>
          </a:p>
          <a:p>
            <a:pPr lvl="2"/>
            <a:r>
              <a:rPr lang="en-US" sz="2400" dirty="0">
                <a:cs typeface="Arial"/>
              </a:rPr>
              <a:t>Everyone can make their own special version of MODFLOW6 that inherits the base/core capabilities</a:t>
            </a:r>
          </a:p>
          <a:p>
            <a:pPr lvl="2"/>
            <a:r>
              <a:rPr lang="en-US" sz="2400" dirty="0">
                <a:cs typeface="Arial"/>
              </a:rPr>
              <a:t>TSC ensures that big, potentially breaking changes made by anyone are reconciled so that the base/core keeps working smoothly</a:t>
            </a:r>
          </a:p>
          <a:p>
            <a:pPr lvl="1"/>
            <a:r>
              <a:rPr lang="en-US" sz="2800" dirty="0">
                <a:cs typeface="Arial"/>
              </a:rPr>
              <a:t>Codifies external contributions to vision and implementation</a:t>
            </a:r>
          </a:p>
        </p:txBody>
      </p:sp>
    </p:spTree>
    <p:extLst>
      <p:ext uri="{BB962C8B-B14F-4D97-AF65-F5344CB8AC3E}">
        <p14:creationId xmlns:p14="http://schemas.microsoft.com/office/powerpoint/2010/main" val="2478394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E02E3-2170-8664-6B2E-B2DAD0208B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3470D9-0964-F33A-1BB0-7B5167BA79B6}"/>
              </a:ext>
            </a:extLst>
          </p:cNvPr>
          <p:cNvSpPr>
            <a:spLocks noGrp="1"/>
          </p:cNvSpPr>
          <p:nvPr>
            <p:ph type="title"/>
          </p:nvPr>
        </p:nvSpPr>
        <p:spPr>
          <a:xfrm>
            <a:off x="508000" y="304800"/>
            <a:ext cx="8305800" cy="533400"/>
          </a:xfrm>
        </p:spPr>
        <p:txBody>
          <a:bodyPr/>
          <a:lstStyle/>
          <a:p>
            <a:r>
              <a:rPr lang="en-US" dirty="0"/>
              <a:t>MODFLOW 6 Governance</a:t>
            </a:r>
          </a:p>
        </p:txBody>
      </p:sp>
      <p:sp>
        <p:nvSpPr>
          <p:cNvPr id="4" name="Content Placeholder 3">
            <a:extLst>
              <a:ext uri="{FF2B5EF4-FFF2-40B4-BE49-F238E27FC236}">
                <a16:creationId xmlns:a16="http://schemas.microsoft.com/office/drawing/2014/main" id="{EC0DFB15-643A-0509-5935-72C15E0D48AD}"/>
              </a:ext>
            </a:extLst>
          </p:cNvPr>
          <p:cNvSpPr>
            <a:spLocks noGrp="1"/>
          </p:cNvSpPr>
          <p:nvPr>
            <p:ph idx="1"/>
          </p:nvPr>
        </p:nvSpPr>
        <p:spPr/>
        <p:txBody>
          <a:bodyPr/>
          <a:lstStyle/>
          <a:p>
            <a:r>
              <a:rPr lang="en-US" sz="3200" dirty="0">
                <a:cs typeface="Arial"/>
              </a:rPr>
              <a:t>USGS Responsibility going forward</a:t>
            </a:r>
          </a:p>
          <a:p>
            <a:pPr lvl="1"/>
            <a:r>
              <a:rPr lang="en-US" sz="2800" dirty="0">
                <a:cs typeface="Arial"/>
              </a:rPr>
              <a:t>USGS will continue to make formal releases, subject to review processes and Fundamental Science Practices --- the USGS imprimatur is on the code</a:t>
            </a:r>
          </a:p>
          <a:p>
            <a:pPr lvl="1"/>
            <a:r>
              <a:rPr lang="en-US" sz="2800" dirty="0">
                <a:cs typeface="Arial"/>
              </a:rPr>
              <a:t>USGS or anyone else can develop offshoots for any specific project/program needs</a:t>
            </a:r>
          </a:p>
          <a:p>
            <a:pPr lvl="2"/>
            <a:r>
              <a:rPr lang="en-US" sz="2400" dirty="0">
                <a:cs typeface="Arial"/>
              </a:rPr>
              <a:t>Thanks to modern architecture and Git-based version control</a:t>
            </a:r>
          </a:p>
          <a:p>
            <a:pPr lvl="1"/>
            <a:r>
              <a:rPr lang="en-US" sz="2800" dirty="0">
                <a:cs typeface="Arial"/>
              </a:rPr>
              <a:t>Main development is collaborative with USGS playing an important role, but not directing all development</a:t>
            </a:r>
          </a:p>
          <a:p>
            <a:pPr lvl="1"/>
            <a:r>
              <a:rPr lang="en-US" sz="2800" dirty="0">
                <a:cs typeface="Arial"/>
              </a:rPr>
              <a:t>The State of MODFLOW is strong!</a:t>
            </a:r>
            <a:endParaRPr lang="en-US" sz="2400" dirty="0">
              <a:cs typeface="Arial"/>
            </a:endParaRPr>
          </a:p>
        </p:txBody>
      </p:sp>
    </p:spTree>
    <p:extLst>
      <p:ext uri="{BB962C8B-B14F-4D97-AF65-F5344CB8AC3E}">
        <p14:creationId xmlns:p14="http://schemas.microsoft.com/office/powerpoint/2010/main" val="2369129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E6F7F0-1B88-4633-B9DC-D5C95C2279E7}"/>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C0968ACA-50E6-C07C-1FDF-F4381C77E39B}"/>
              </a:ext>
            </a:extLst>
          </p:cNvPr>
          <p:cNvPicPr>
            <a:picLocks noChangeAspect="1"/>
          </p:cNvPicPr>
          <p:nvPr/>
        </p:nvPicPr>
        <p:blipFill>
          <a:blip r:embed="rId2"/>
          <a:stretch>
            <a:fillRect/>
          </a:stretch>
        </p:blipFill>
        <p:spPr>
          <a:xfrm>
            <a:off x="923468" y="379808"/>
            <a:ext cx="10345064" cy="5521117"/>
          </a:xfrm>
          <a:prstGeom prst="rect">
            <a:avLst/>
          </a:prstGeom>
        </p:spPr>
      </p:pic>
      <p:sp>
        <p:nvSpPr>
          <p:cNvPr id="3" name="Content Placeholder 3">
            <a:extLst>
              <a:ext uri="{FF2B5EF4-FFF2-40B4-BE49-F238E27FC236}">
                <a16:creationId xmlns:a16="http://schemas.microsoft.com/office/drawing/2014/main" id="{D46EBA80-704E-2159-A6DF-9D048ACD6778}"/>
              </a:ext>
            </a:extLst>
          </p:cNvPr>
          <p:cNvSpPr>
            <a:spLocks noGrp="1"/>
          </p:cNvSpPr>
          <p:nvPr>
            <p:ph idx="1"/>
          </p:nvPr>
        </p:nvSpPr>
        <p:spPr>
          <a:xfrm>
            <a:off x="2931594" y="6106722"/>
            <a:ext cx="5955088" cy="606536"/>
          </a:xfrm>
        </p:spPr>
        <p:txBody>
          <a:bodyPr/>
          <a:lstStyle/>
          <a:p>
            <a:r>
              <a:rPr lang="en-US" sz="2400" dirty="0">
                <a:cs typeface="Arial"/>
                <a:hlinkClick r:id="rId3">
                  <a:extLst>
                    <a:ext uri="{A12FA001-AC4F-418D-AE19-62706E023703}">
                      <ahyp:hlinkClr xmlns:ahyp="http://schemas.microsoft.com/office/drawing/2018/hyperlinkcolor" val="tx"/>
                    </a:ext>
                  </a:extLst>
                </a:hlinkClick>
              </a:rPr>
              <a:t>https://doi.org/10.1111/gwat.70073</a:t>
            </a:r>
            <a:endParaRPr lang="en-US" sz="2400" dirty="0">
              <a:cs typeface="Arial"/>
            </a:endParaRPr>
          </a:p>
        </p:txBody>
      </p:sp>
    </p:spTree>
    <p:extLst>
      <p:ext uri="{BB962C8B-B14F-4D97-AF65-F5344CB8AC3E}">
        <p14:creationId xmlns:p14="http://schemas.microsoft.com/office/powerpoint/2010/main" val="3702589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theme/theme1.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The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40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4000" b="0" i="0" u="none" strike="noStrike" cap="none" normalizeH="0" baseline="0" smtClean="0">
            <a:ln>
              <a:noFill/>
            </a:ln>
            <a:solidFill>
              <a:schemeClr val="tx1"/>
            </a:solidFill>
            <a:effectLst/>
            <a:latin typeface="Arial"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1EEB8AFF06121409252B88FA1D2265B" ma:contentTypeVersion="4" ma:contentTypeDescription="Create a new document." ma:contentTypeScope="" ma:versionID="1af6dd7cab947d5bd3b931b40662a760">
  <xsd:schema xmlns:xsd="http://www.w3.org/2001/XMLSchema" xmlns:xs="http://www.w3.org/2001/XMLSchema" xmlns:p="http://schemas.microsoft.com/office/2006/metadata/properties" xmlns:ns2="6ef92476-52da-46dc-8f5b-bb7d524b42d0" targetNamespace="http://schemas.microsoft.com/office/2006/metadata/properties" ma:root="true" ma:fieldsID="d9a5a2e65195c2663e91be3dad4045e3" ns2:_="">
    <xsd:import namespace="6ef92476-52da-46dc-8f5b-bb7d524b42d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f92476-52da-46dc-8f5b-bb7d524b42d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699DEE8-2C13-4201-B149-F4D254122581}">
  <ds:schemaRefs>
    <ds:schemaRef ds:uri="http://schemas.microsoft.com/sharepoint/v3/contenttype/forms"/>
  </ds:schemaRefs>
</ds:datastoreItem>
</file>

<file path=customXml/itemProps2.xml><?xml version="1.0" encoding="utf-8"?>
<ds:datastoreItem xmlns:ds="http://schemas.openxmlformats.org/officeDocument/2006/customXml" ds:itemID="{5A4AA827-2A1D-4370-8159-7A77B91E641A}">
  <ds:schemaRefs>
    <ds:schemaRef ds:uri="http://purl.org/dc/terms/"/>
    <ds:schemaRef ds:uri="http://schemas.microsoft.com/office/2006/documentManagement/types"/>
    <ds:schemaRef ds:uri="http://purl.org/dc/dcmitype/"/>
    <ds:schemaRef ds:uri="http://www.w3.org/XML/1998/namespace"/>
    <ds:schemaRef ds:uri="http://purl.org/dc/elements/1.1/"/>
    <ds:schemaRef ds:uri="http://schemas.openxmlformats.org/package/2006/metadata/core-properties"/>
    <ds:schemaRef ds:uri="http://schemas.microsoft.com/office/infopath/2007/PartnerControls"/>
    <ds:schemaRef ds:uri="6ef92476-52da-46dc-8f5b-bb7d524b42d0"/>
    <ds:schemaRef ds:uri="http://schemas.microsoft.com/office/2006/metadata/properties"/>
  </ds:schemaRefs>
</ds:datastoreItem>
</file>

<file path=customXml/itemProps3.xml><?xml version="1.0" encoding="utf-8"?>
<ds:datastoreItem xmlns:ds="http://schemas.openxmlformats.org/officeDocument/2006/customXml" ds:itemID="{402F1E41-E8E8-4AD4-9C5B-D33F10AFD2A7}">
  <ds:schemaRefs>
    <ds:schemaRef ds:uri="6ef92476-52da-46dc-8f5b-bb7d524b42d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6dd02d64-b7f3-43f7-a145-cfd68d338edf}" enabled="1" method="Standard" siteId="{0693b5ba-4b18-4d7b-9341-f32f400a5494}" removed="0"/>
</clbl:labelList>
</file>

<file path=docProps/app.xml><?xml version="1.0" encoding="utf-8"?>
<Properties xmlns="http://schemas.openxmlformats.org/officeDocument/2006/extended-properties" xmlns:vt="http://schemas.openxmlformats.org/officeDocument/2006/docPropsVTypes">
  <Template/>
  <TotalTime>2209</TotalTime>
  <Words>272</Words>
  <Application>Microsoft Office PowerPoint</Application>
  <PresentationFormat>Widescreen</PresentationFormat>
  <Paragraphs>32</Paragraphs>
  <Slides>7</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Times New Roman</vt:lpstr>
      <vt:lpstr>Wingdings</vt:lpstr>
      <vt:lpstr>Office Theme</vt:lpstr>
      <vt:lpstr>PowerPoint Presentation</vt:lpstr>
      <vt:lpstr>MODFLOW 6 Governance</vt:lpstr>
      <vt:lpstr>MODFLOW 6 Governance</vt:lpstr>
      <vt:lpstr>MODFLOW 6 Charter</vt:lpstr>
      <vt:lpstr>MODFLOW 6 Governance</vt:lpstr>
      <vt:lpstr>MODFLOW 6 Governance</vt:lpstr>
      <vt:lpstr>PowerPoint Presentation</vt:lpstr>
    </vt:vector>
  </TitlesOfParts>
  <Company>USGS</Company>
  <LinksUpToDate>false</LinksUpToDate>
  <SharedDoc>false</SharedDoc>
  <HyperlinkBase>http://www.usgs.gov/visual-id/specs/slides/slide.html</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Gray Design Template for Slide Presentations</dc:title>
  <dc:subject>Presentation format with USGS Visual Identity</dc:subject>
  <dc:creator>VIScom</dc:creator>
  <dc:description>Updated to incorporate revised Visual Identity (VID)System guidelines on fonts.  An exception to using the VID fonts is allowed for presentation materials.   The font Arial should be substituted for the VID fonts Univers Condensed Bold and Times Roman</dc:description>
  <cp:lastModifiedBy>Morway, Eric</cp:lastModifiedBy>
  <cp:revision>12</cp:revision>
  <cp:lastPrinted>2016-04-14T16:40:22Z</cp:lastPrinted>
  <dcterms:created xsi:type="dcterms:W3CDTF">1998-01-16T15:44:57Z</dcterms:created>
  <dcterms:modified xsi:type="dcterms:W3CDTF">2026-06-26T19:49:27Z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0x01010031EEB8AFF06121409252B88FA1D2265B</vt:lpwstr>
  </property>
</Properties>
</file>